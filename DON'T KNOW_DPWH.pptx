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8" r:id="rId11"/>
    <p:sldId id="265" r:id="rId12"/>
    <p:sldId id="266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CF130B-7CFD-9ED7-66AE-D8E2A2EEDE41}" v="3889" dt="2026-04-03T18:54:51.389"/>
    <p1510:client id="{1780A6B7-887B-10C9-6A00-0779D95902D2}" v="271" dt="2026-04-03T16:11:13.789"/>
    <p1510:client id="{22773AEE-47A4-88D8-90D1-EDAD3BEDC271}" v="615" dt="2026-04-03T16:12:16.879"/>
    <p1510:client id="{24CD76A7-015A-2910-4748-8836A444E904}" v="13" dt="2026-04-03T20:44:24.095"/>
    <p1510:client id="{71E180F9-C0D0-7A49-FD27-73E0DB379091}" v="364" dt="2026-04-03T18:59:47.835"/>
    <p1510:client id="{7A5D658F-3212-9516-0801-33191BEF26B6}" v="2326" dt="2026-04-03T18:32:38.907"/>
    <p1510:client id="{B36EE628-AEF9-2E17-AB89-5B8C341F3DBC}" v="8890" dt="2026-04-04T00:19:16.366"/>
    <p1510:client id="{B8C500EA-0FF8-6D53-8547-8BC89D5DE3EA}" v="1664" dt="2026-04-03T16:06:38.827"/>
    <p1510:client id="{CD3A95DB-B2FC-706C-6D87-D1B583A3D967}" v="74" dt="2026-04-03T23:26:01.608"/>
    <p1510:client id="{DA1D5B88-A437-CF1C-6F0F-E7E1CF009BC2}" v="58" dt="2026-04-04T00:15:08.596"/>
    <p1510:client id="{FB4988C2-BB83-6D97-4A08-8423B12A47C5}" v="364" dt="2026-04-03T23:55:55.88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5834" y="3920837"/>
            <a:ext cx="8116165" cy="293716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2265" y="4821836"/>
            <a:ext cx="1869901" cy="1155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6914" y="0"/>
            <a:ext cx="12025085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1469" y="156743"/>
            <a:ext cx="11296650" cy="1203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19752" y="6555010"/>
            <a:ext cx="191134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hyperlink" Target="https://github.com/Hemant-Gupta1/VisionGate-AI" TargetMode="External"/><Relationship Id="rId10" Type="http://schemas.openxmlformats.org/officeDocument/2006/relationships/image" Target="../media/image30.png"/><Relationship Id="rId4" Type="http://schemas.openxmlformats.org/officeDocument/2006/relationships/hyperlink" Target="https://youtu.be/WZS5qdXuXhY" TargetMode="External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02049" y="4605854"/>
            <a:ext cx="8489949" cy="2251899"/>
          </a:xfrm>
          <a:prstGeom prst="rect">
            <a:avLst/>
          </a:prstGeom>
        </p:spPr>
        <p:txBody>
          <a:bodyPr vert="horz" wrap="square" lIns="0" tIns="40132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3160"/>
              </a:spcBef>
            </a:pPr>
            <a:r>
              <a:rPr lang="en-IN" sz="4800" b="1">
                <a:solidFill>
                  <a:schemeClr val="tx1">
                    <a:lumMod val="65000"/>
                    <a:lumOff val="35000"/>
                  </a:schemeClr>
                </a:solidFill>
              </a:rPr>
              <a:t>Team Name: DON'T KNOW</a:t>
            </a:r>
          </a:p>
          <a:p>
            <a:endParaRPr lang="en-IN" b="1"/>
          </a:p>
          <a:p>
            <a:r>
              <a:rPr lang="en-IN" b="1" err="1"/>
              <a:t>VisionGate</a:t>
            </a:r>
            <a:r>
              <a:rPr lang="en-IN" b="1"/>
              <a:t> AI: Automated gate triage bridging physical and digital logistics to create climate-aware, zero-idling checkpoints for smarter operations, greener ports, and seamless trade.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41355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/>
              <a:t>PROJECT</a:t>
            </a:r>
            <a:r>
              <a:rPr spc="-160"/>
              <a:t> </a:t>
            </a:r>
            <a:r>
              <a:t>TITLE</a:t>
            </a:r>
            <a:r>
              <a:rPr spc="-215"/>
              <a:t> </a:t>
            </a:r>
            <a:r>
              <a:t>AND</a:t>
            </a:r>
            <a:r>
              <a:rPr spc="-100"/>
              <a:t> </a:t>
            </a:r>
            <a:r>
              <a:t>TEAM</a:t>
            </a:r>
            <a:r>
              <a:rPr spc="-45"/>
              <a:t> </a:t>
            </a:r>
            <a:r>
              <a:rPr spc="-1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2</a:t>
            </a:fld>
            <a:endParaRPr spc="-25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720580-405E-664A-5CB3-4D46712B7366}"/>
              </a:ext>
            </a:extLst>
          </p:cNvPr>
          <p:cNvSpPr txBox="1"/>
          <p:nvPr/>
        </p:nvSpPr>
        <p:spPr>
          <a:xfrm>
            <a:off x="5867400" y="1263202"/>
            <a:ext cx="2536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>
                <a:latin typeface="Poppins" panose="00000500000000000000" pitchFamily="2" charset="0"/>
                <a:cs typeface="Poppins" panose="00000500000000000000" pitchFamily="2" charset="0"/>
              </a:rPr>
              <a:t>Core Competencies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749832-9E21-87C5-43A5-F85F9E5AAB09}"/>
              </a:ext>
            </a:extLst>
          </p:cNvPr>
          <p:cNvSpPr txBox="1"/>
          <p:nvPr/>
        </p:nvSpPr>
        <p:spPr>
          <a:xfrm>
            <a:off x="514517" y="126320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b="1" i="0" u="none" strike="noStrike">
                <a:solidFill>
                  <a:srgbClr val="002B49"/>
                </a:solidFill>
                <a:effectLst/>
                <a:latin typeface="Poppins" panose="00000500000000000000" pitchFamily="2" charset="0"/>
              </a:rPr>
              <a:t>Who We Are</a:t>
            </a:r>
            <a:endParaRPr lang="en-IN">
              <a:effectLst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4B0258F-C95C-811F-5091-9AF5C1CAF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10" y="4052270"/>
            <a:ext cx="4820323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E4B5B03-C05C-73F5-F99A-6E7CB1032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10" y="1905000"/>
            <a:ext cx="4820323" cy="177189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AF95EF1-8861-A5D3-683E-7A6150BD3EE9}"/>
              </a:ext>
            </a:extLst>
          </p:cNvPr>
          <p:cNvSpPr txBox="1"/>
          <p:nvPr/>
        </p:nvSpPr>
        <p:spPr>
          <a:xfrm>
            <a:off x="609910" y="4257355"/>
            <a:ext cx="48203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0" i="1" u="none" strike="noStrike">
                <a:solidFill>
                  <a:srgbClr val="1E293B"/>
                </a:solidFill>
                <a:effectLst/>
                <a:latin typeface="Inter"/>
              </a:rPr>
              <a:t>"Our Philosophy: We build bridges. </a:t>
            </a:r>
            <a:r>
              <a:rPr lang="en-US" sz="1800" b="0" i="1" u="none" strike="noStrike" err="1">
                <a:solidFill>
                  <a:srgbClr val="1E293B"/>
                </a:solidFill>
                <a:effectLst/>
                <a:latin typeface="Inter"/>
              </a:rPr>
              <a:t>VisionGate</a:t>
            </a:r>
            <a:r>
              <a:rPr lang="en-US" sz="1800" b="0" i="1" u="none" strike="noStrike">
                <a:solidFill>
                  <a:srgbClr val="1E293B"/>
                </a:solidFill>
                <a:effectLst/>
                <a:latin typeface="Inter"/>
              </a:rPr>
              <a:t> AI connects siloed systems by uniting domain knowledge with cutting-edge engineering."</a:t>
            </a:r>
            <a:endParaRPr lang="en-US">
              <a:effectLst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219053-1174-57C1-BCC1-B6D2053F86E2}"/>
              </a:ext>
            </a:extLst>
          </p:cNvPr>
          <p:cNvSpPr txBox="1"/>
          <p:nvPr/>
        </p:nvSpPr>
        <p:spPr>
          <a:xfrm>
            <a:off x="5867400" y="187290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/>
              <a:t>Our diverse background allows us to tackle the physical-digital integration challenge from multiple angles:</a:t>
            </a:r>
            <a:endParaRPr lang="en-US">
              <a:effectLst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E5585B-F483-7D85-99CC-72642993149E}"/>
              </a:ext>
            </a:extLst>
          </p:cNvPr>
          <p:cNvSpPr txBox="1"/>
          <p:nvPr/>
        </p:nvSpPr>
        <p:spPr>
          <a:xfrm>
            <a:off x="5867400" y="2547727"/>
            <a:ext cx="670015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→ </a:t>
            </a:r>
            <a:r>
              <a:rPr lang="en-US" b="1"/>
              <a:t>Advanced AI/ML:</a:t>
            </a:r>
            <a:r>
              <a:rPr lang="en-US"/>
              <a:t> YOLOv8 + Computer vision for damage detection, Paddle OCR+ Easy OCR for ISO reading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FE9020-DF13-88A7-B737-60F2856D7BCB}"/>
              </a:ext>
            </a:extLst>
          </p:cNvPr>
          <p:cNvSpPr txBox="1"/>
          <p:nvPr/>
        </p:nvSpPr>
        <p:spPr>
          <a:xfrm>
            <a:off x="5867400" y="3276977"/>
            <a:ext cx="719395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→ </a:t>
            </a:r>
            <a:r>
              <a:rPr lang="en-US" b="1"/>
              <a:t>System Design:</a:t>
            </a:r>
            <a:r>
              <a:rPr lang="en-US"/>
              <a:t> End-to-end multi-page architecture, SQLite persistence, LLM Copilot &amp; automated PDF compliance reporting.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4E9617-1344-1D84-C614-F69F90F8DDED}"/>
              </a:ext>
            </a:extLst>
          </p:cNvPr>
          <p:cNvSpPr txBox="1"/>
          <p:nvPr/>
        </p:nvSpPr>
        <p:spPr>
          <a:xfrm>
            <a:off x="5867400" y="3930030"/>
            <a:ext cx="729192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→ </a:t>
            </a:r>
            <a:r>
              <a:rPr lang="en-US" b="1"/>
              <a:t> ESG &amp; Data Intelligence : </a:t>
            </a:r>
            <a:r>
              <a:rPr lang="en-US"/>
              <a:t>Real time CO2 tracking &amp; </a:t>
            </a:r>
            <a:r>
              <a:rPr lang="en-US" err="1"/>
              <a:t>sustainibility</a:t>
            </a:r>
            <a:r>
              <a:rPr lang="en-US"/>
              <a:t> metrics, dynamic dashboards, AI grounded copilot insights.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FA23D9-2637-8980-8C65-7A51DE9938E2}"/>
              </a:ext>
            </a:extLst>
          </p:cNvPr>
          <p:cNvSpPr txBox="1"/>
          <p:nvPr/>
        </p:nvSpPr>
        <p:spPr>
          <a:xfrm>
            <a:off x="5867401" y="4713704"/>
            <a:ext cx="68090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→ </a:t>
            </a:r>
            <a:r>
              <a:rPr lang="en-US" b="1"/>
              <a:t>Supply Chain Strategy:</a:t>
            </a:r>
            <a:r>
              <a:rPr lang="en-US"/>
              <a:t> Automated </a:t>
            </a:r>
            <a:r>
              <a:rPr lang="en-US" err="1"/>
              <a:t>BoxBay</a:t>
            </a:r>
            <a:r>
              <a:rPr lang="en-US"/>
              <a:t> routing, gate optimization &amp; labor cost elimination for port </a:t>
            </a:r>
            <a:r>
              <a:rPr lang="en-US" err="1"/>
              <a:t>operato</a:t>
            </a:r>
            <a:r>
              <a:rPr lang="en-US"/>
              <a:t>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525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1469" y="156743"/>
            <a:ext cx="11296650" cy="614271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>
                <a:solidFill>
                  <a:srgbClr val="FFFFFF"/>
                </a:solidFill>
              </a:rPr>
              <a:t>PROBLEM</a:t>
            </a:r>
            <a:r>
              <a:rPr spc="-165">
                <a:solidFill>
                  <a:srgbClr val="FFFFFF"/>
                </a:solidFill>
              </a:rPr>
              <a:t> </a:t>
            </a:r>
            <a:r>
              <a:rPr spc="-10">
                <a:solidFill>
                  <a:srgbClr val="FFFFFF"/>
                </a:solidFill>
              </a:rPr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</a:t>
            </a:fld>
            <a:endParaRPr spc="-25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A16602-46F7-FA6A-E7F4-8387DFE75C63}"/>
              </a:ext>
            </a:extLst>
          </p:cNvPr>
          <p:cNvSpPr txBox="1"/>
          <p:nvPr/>
        </p:nvSpPr>
        <p:spPr>
          <a:xfrm>
            <a:off x="511469" y="1295400"/>
            <a:ext cx="6158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b="1" i="0" u="none" strike="noStrike">
                <a:solidFill>
                  <a:schemeClr val="bg1"/>
                </a:solidFill>
                <a:effectLst/>
                <a:latin typeface="Inter"/>
              </a:rPr>
              <a:t>Domain:</a:t>
            </a:r>
            <a:r>
              <a:rPr lang="en-IN" sz="1800" b="0" i="0" u="none" strike="noStrike">
                <a:solidFill>
                  <a:schemeClr val="bg1"/>
                </a:solidFill>
                <a:effectLst/>
                <a:latin typeface="Inter"/>
              </a:rPr>
              <a:t> Port &amp; Terminal Operations &amp; Supply Chain Visibility.</a:t>
            </a:r>
            <a:endParaRPr lang="en-IN">
              <a:solidFill>
                <a:schemeClr val="bg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31ABD-1F29-334C-3514-427B4BC9456F}"/>
              </a:ext>
            </a:extLst>
          </p:cNvPr>
          <p:cNvSpPr txBox="1"/>
          <p:nvPr/>
        </p:nvSpPr>
        <p:spPr>
          <a:xfrm>
            <a:off x="511469" y="2057400"/>
            <a:ext cx="6158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>
                <a:solidFill>
                  <a:schemeClr val="bg1"/>
                </a:solidFill>
                <a:effectLst/>
                <a:latin typeface="Inter"/>
              </a:rPr>
              <a:t>The Target User:</a:t>
            </a:r>
            <a:r>
              <a:rPr lang="en-US" sz="1800" b="0" i="0" u="none" strike="noStrike">
                <a:solidFill>
                  <a:schemeClr val="bg1"/>
                </a:solidFill>
                <a:effectLst/>
                <a:latin typeface="Inter"/>
              </a:rPr>
              <a:t> Gate Inspectors, Yard Planners, Customs Brokers.</a:t>
            </a:r>
            <a:endParaRPr lang="en-US">
              <a:solidFill>
                <a:schemeClr val="bg1"/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DB5D11-285E-34C8-1924-2E48DC8CDD8D}"/>
              </a:ext>
            </a:extLst>
          </p:cNvPr>
          <p:cNvSpPr txBox="1"/>
          <p:nvPr/>
        </p:nvSpPr>
        <p:spPr>
          <a:xfrm>
            <a:off x="838200" y="3980818"/>
            <a:ext cx="6158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0" i="0" u="none" strike="noStrike">
                <a:solidFill>
                  <a:schemeClr val="bg1"/>
                </a:solidFill>
                <a:effectLst/>
                <a:latin typeface="Inter"/>
              </a:rPr>
              <a:t>Gate is the biggest bottleneck; 5+ min manual checks per truck.</a:t>
            </a:r>
            <a:endParaRPr lang="en-US">
              <a:solidFill>
                <a:schemeClr val="bg1"/>
              </a:solidFill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8F0D7D-3BFC-4F1A-7CE1-75F62C5D24CE}"/>
              </a:ext>
            </a:extLst>
          </p:cNvPr>
          <p:cNvSpPr txBox="1"/>
          <p:nvPr/>
        </p:nvSpPr>
        <p:spPr>
          <a:xfrm>
            <a:off x="541949" y="3456432"/>
            <a:ext cx="6158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b="1" i="0" u="none" strike="noStrike">
                <a:solidFill>
                  <a:schemeClr val="bg1"/>
                </a:solidFill>
                <a:effectLst/>
                <a:latin typeface="Poppins" panose="00000500000000000000" pitchFamily="2" charset="0"/>
              </a:rPr>
              <a:t>The Pain Today (</a:t>
            </a:r>
            <a:r>
              <a:rPr lang="en-IN" sz="1800" b="1">
                <a:solidFill>
                  <a:schemeClr val="bg1"/>
                </a:solidFill>
              </a:rPr>
              <a:t>Bottleneck)</a:t>
            </a:r>
            <a:endParaRPr lang="en-IN" b="1">
              <a:solidFill>
                <a:schemeClr val="bg1"/>
              </a:solidFill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281836-B365-5095-6A96-F7737A667EFE}"/>
              </a:ext>
            </a:extLst>
          </p:cNvPr>
          <p:cNvSpPr txBox="1"/>
          <p:nvPr/>
        </p:nvSpPr>
        <p:spPr>
          <a:xfrm>
            <a:off x="838200" y="4505204"/>
            <a:ext cx="6158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0" i="0" u="none" strike="noStrike">
                <a:solidFill>
                  <a:schemeClr val="bg1"/>
                </a:solidFill>
                <a:effectLst/>
                <a:latin typeface="Inter"/>
              </a:rPr>
              <a:t>3-5% manual data entry errors causing massive congestion.</a:t>
            </a:r>
            <a:endParaRPr lang="en-US">
              <a:solidFill>
                <a:schemeClr val="bg1"/>
              </a:solidFill>
              <a:effectLst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B6FB7E-9497-2387-9174-0647234BFAB6}"/>
              </a:ext>
            </a:extLst>
          </p:cNvPr>
          <p:cNvSpPr txBox="1"/>
          <p:nvPr/>
        </p:nvSpPr>
        <p:spPr>
          <a:xfrm>
            <a:off x="838200" y="5010673"/>
            <a:ext cx="6158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0" i="0" u="none" strike="noStrike">
                <a:solidFill>
                  <a:schemeClr val="bg1"/>
                </a:solidFill>
                <a:effectLst/>
                <a:latin typeface="Inter"/>
              </a:rPr>
              <a:t>Dangerous hazardous carbon leaks as a result of queueing</a:t>
            </a:r>
            <a:endParaRPr lang="en-US">
              <a:solidFill>
                <a:schemeClr val="bg1"/>
              </a:solidFill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5B2E89-9473-9DA2-9577-F689C79CC644}"/>
              </a:ext>
            </a:extLst>
          </p:cNvPr>
          <p:cNvSpPr txBox="1"/>
          <p:nvPr/>
        </p:nvSpPr>
        <p:spPr>
          <a:xfrm>
            <a:off x="541949" y="5792789"/>
            <a:ext cx="61584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0" i="1" u="none" strike="noStrike">
                <a:solidFill>
                  <a:schemeClr val="bg1"/>
                </a:solidFill>
                <a:effectLst/>
                <a:latin typeface="Inter"/>
              </a:rPr>
              <a:t>We replace slow clipboards with instantaneous, tech-agnostic Computer Vision.</a:t>
            </a:r>
            <a:endParaRPr lang="en-US">
              <a:solidFill>
                <a:schemeClr val="bg1"/>
              </a:solidFill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582704-3D06-321C-182C-54D327478555}"/>
              </a:ext>
            </a:extLst>
          </p:cNvPr>
          <p:cNvSpPr txBox="1"/>
          <p:nvPr/>
        </p:nvSpPr>
        <p:spPr>
          <a:xfrm>
            <a:off x="6501130" y="4940163"/>
            <a:ext cx="6184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>
                <a:solidFill>
                  <a:srgbClr val="B91C1C"/>
                </a:solidFill>
                <a:effectLst/>
                <a:latin typeface="Inter"/>
              </a:rPr>
              <a:t>Queuing accounts for 30% of localized emissions</a:t>
            </a:r>
            <a:endParaRPr lang="en-US">
              <a:effectLst/>
            </a:endParaRPr>
          </a:p>
        </p:txBody>
      </p:sp>
      <p:pic>
        <p:nvPicPr>
          <p:cNvPr id="2064" name="Picture 16">
            <a:extLst>
              <a:ext uri="{FF2B5EF4-FFF2-40B4-BE49-F238E27FC236}">
                <a16:creationId xmlns:a16="http://schemas.microsoft.com/office/drawing/2014/main" id="{FD40D322-84E4-61BF-088B-D9E403402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9269" y="235278"/>
            <a:ext cx="2228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2037315C-F26E-17F6-385F-8483918C3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764" y="2164352"/>
            <a:ext cx="4859009" cy="2626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F57F6CC-7072-E342-FA55-02CE23BD8178}"/>
              </a:ext>
            </a:extLst>
          </p:cNvPr>
          <p:cNvSpPr txBox="1"/>
          <p:nvPr/>
        </p:nvSpPr>
        <p:spPr>
          <a:xfrm>
            <a:off x="7056310" y="1006018"/>
            <a:ext cx="48590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Problem Understanding:</a:t>
            </a:r>
            <a:r>
              <a:rPr lang="en-US">
                <a:solidFill>
                  <a:schemeClr val="bg1"/>
                </a:solidFill>
              </a:rPr>
              <a:t> Clearly identifies gate congestion, truck idling emissions, and human error in manual container inspection.</a:t>
            </a:r>
            <a:endParaRPr lang="en-I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469" y="156743"/>
            <a:ext cx="11296650" cy="614233"/>
          </a:xfrm>
          <a:prstGeom prst="rect">
            <a:avLst/>
          </a:prstGeom>
        </p:spPr>
        <p:txBody>
          <a:bodyPr vert="horz" wrap="square" lIns="0" tIns="1206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t>PROPOSED</a:t>
            </a:r>
            <a:r>
              <a:rPr spc="-155"/>
              <a:t> </a:t>
            </a:r>
            <a:r>
              <a:t>SOLUTION/SOLUTION</a:t>
            </a:r>
            <a:r>
              <a:rPr spc="-155"/>
              <a:t> </a:t>
            </a:r>
            <a:r>
              <a:rPr spc="-10"/>
              <a:t>OVERVIEW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</a:t>
            </a:fld>
            <a:endParaRPr spc="-25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11C9A9A-8AE7-8159-C3B9-83038C2F1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5044" y="207543"/>
            <a:ext cx="17430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5AC2F5-E46C-C22C-4C87-9EEE15E57CA0}"/>
              </a:ext>
            </a:extLst>
          </p:cNvPr>
          <p:cNvSpPr txBox="1"/>
          <p:nvPr/>
        </p:nvSpPr>
        <p:spPr>
          <a:xfrm>
            <a:off x="441858" y="960817"/>
            <a:ext cx="11308283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US" b="1">
                <a:solidFill>
                  <a:srgbClr val="92D050"/>
                </a:solidFill>
                <a:latin typeface="Inter"/>
              </a:rPr>
              <a:t>An intelligent, technology-agnostic platform converting standard CCTV feeds into an autonomous AI pipeline, modernizing DP world's global gate infrastructure.</a:t>
            </a:r>
            <a:endParaRPr lang="en-US" b="1">
              <a:solidFill>
                <a:srgbClr val="92D050"/>
              </a:solidFill>
              <a:effectLst/>
              <a:latin typeface="Inter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5D7A049-371D-A8EA-AEAD-159AE2210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68" y="1823871"/>
            <a:ext cx="34290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494F4F-2DE9-DBEC-E098-7EE87BAF369B}"/>
              </a:ext>
            </a:extLst>
          </p:cNvPr>
          <p:cNvSpPr txBox="1"/>
          <p:nvPr/>
        </p:nvSpPr>
        <p:spPr>
          <a:xfrm>
            <a:off x="810825" y="1922456"/>
            <a:ext cx="6096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IN" b="1">
                <a:solidFill>
                  <a:srgbClr val="002B49"/>
                </a:solidFill>
                <a:latin typeface="Poppins"/>
                <a:cs typeface="Poppins"/>
              </a:rPr>
              <a:t>Structural and Thermal</a:t>
            </a:r>
            <a:endParaRPr lang="en-IN" b="1">
              <a:solidFill>
                <a:srgbClr val="002B49"/>
              </a:solidFill>
              <a:effectLst/>
              <a:latin typeface="Poppins"/>
              <a:cs typeface="Popp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7A1F60-BBAF-70BC-E7D4-12F416EF9B92}"/>
              </a:ext>
            </a:extLst>
          </p:cNvPr>
          <p:cNvSpPr txBox="1"/>
          <p:nvPr/>
        </p:nvSpPr>
        <p:spPr>
          <a:xfrm>
            <a:off x="554782" y="2301092"/>
            <a:ext cx="3418572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rgbClr val="1E293B"/>
                </a:solidFill>
                <a:latin typeface="Inter"/>
              </a:rPr>
              <a:t>Computer vision extracts information from containers and docs and identify structural and thermal shortcomings at various DP world ports while suggesting further action.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AEE56358-6BAE-7107-816B-787691596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294" y="1823871"/>
            <a:ext cx="34290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26090A-5AB6-A7F3-FE37-962B212E08E8}"/>
              </a:ext>
            </a:extLst>
          </p:cNvPr>
          <p:cNvSpPr txBox="1"/>
          <p:nvPr/>
        </p:nvSpPr>
        <p:spPr>
          <a:xfrm>
            <a:off x="5014204" y="1928501"/>
            <a:ext cx="6096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IN" b="1">
                <a:solidFill>
                  <a:srgbClr val="002B49"/>
                </a:solidFill>
                <a:latin typeface="Poppins"/>
                <a:cs typeface="Poppins"/>
              </a:rPr>
              <a:t>Cargoes Copilot</a:t>
            </a:r>
            <a:endParaRPr lang="en-IN" b="1">
              <a:solidFill>
                <a:srgbClr val="002B49"/>
              </a:solidFill>
              <a:effectLst/>
              <a:latin typeface="Poppins"/>
              <a:cs typeface="Poppi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E916DD-4CDA-B386-4ECA-196253E25AB0}"/>
              </a:ext>
            </a:extLst>
          </p:cNvPr>
          <p:cNvSpPr txBox="1"/>
          <p:nvPr/>
        </p:nvSpPr>
        <p:spPr>
          <a:xfrm>
            <a:off x="4551949" y="2297833"/>
            <a:ext cx="3403600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US">
                <a:solidFill>
                  <a:srgbClr val="1E293B"/>
                </a:solidFill>
                <a:latin typeface="Inter"/>
              </a:rPr>
              <a:t>User can ask queries in natural language, an AI chat model converts it into SQL query. Furthermore, user can upload documents to provide additional context to queries.</a:t>
            </a:r>
            <a:endParaRPr lang="en-US">
              <a:solidFill>
                <a:srgbClr val="1E293B"/>
              </a:solidFill>
              <a:effectLst/>
              <a:latin typeface="Inter"/>
            </a:endParaRP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DD961A78-91DB-E3AD-17D2-5B2B0A905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804" y="1823871"/>
            <a:ext cx="34290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55D4DB-7CA1-FD15-4D2B-26CB89569274}"/>
              </a:ext>
            </a:extLst>
          </p:cNvPr>
          <p:cNvSpPr txBox="1"/>
          <p:nvPr/>
        </p:nvSpPr>
        <p:spPr>
          <a:xfrm>
            <a:off x="8701871" y="1868280"/>
            <a:ext cx="6096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IN" b="1">
                <a:solidFill>
                  <a:srgbClr val="002B49"/>
                </a:solidFill>
                <a:latin typeface="Poppins"/>
                <a:cs typeface="Poppins"/>
              </a:rPr>
              <a:t>One click Audit Reports</a:t>
            </a:r>
            <a:endParaRPr lang="en-IN" b="1">
              <a:solidFill>
                <a:srgbClr val="002B49"/>
              </a:solidFill>
              <a:effectLst/>
              <a:latin typeface="Poppins"/>
              <a:cs typeface="Poppin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01A22F-B04A-DD4C-84CF-27654D4F7A81}"/>
              </a:ext>
            </a:extLst>
          </p:cNvPr>
          <p:cNvSpPr txBox="1"/>
          <p:nvPr/>
        </p:nvSpPr>
        <p:spPr>
          <a:xfrm>
            <a:off x="8499059" y="2390879"/>
            <a:ext cx="3429001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rgbClr val="1E293B"/>
                </a:solidFill>
                <a:latin typeface="Inter"/>
              </a:rPr>
              <a:t>Instantly export legally defensible PDF gate audits from the live database. </a:t>
            </a:r>
            <a:r>
              <a:rPr lang="en-US">
                <a:solidFill>
                  <a:srgbClr val="1E293B"/>
                </a:solidFill>
              </a:rPr>
              <a:t>Seamlessly share audit-ready evidence with customs and freight forwarders.</a:t>
            </a:r>
            <a:endParaRPr lang="en-US">
              <a:solidFill>
                <a:srgbClr val="000000"/>
              </a:solidFill>
            </a:endParaRPr>
          </a:p>
          <a:p>
            <a:endParaRPr lang="en-US">
              <a:solidFill>
                <a:srgbClr val="1E293B"/>
              </a:solidFill>
              <a:latin typeface="Inter"/>
            </a:endParaRPr>
          </a:p>
        </p:txBody>
      </p:sp>
      <p:pic>
        <p:nvPicPr>
          <p:cNvPr id="3086" name="Picture 14">
            <a:extLst>
              <a:ext uri="{FF2B5EF4-FFF2-40B4-BE49-F238E27FC236}">
                <a16:creationId xmlns:a16="http://schemas.microsoft.com/office/drawing/2014/main" id="{3FADF69B-B849-30C2-D1CB-ECC947B9E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28" y="1978448"/>
            <a:ext cx="2571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14C8EE67-3D06-EAEA-1ED5-AB78FDD00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79809"/>
            <a:ext cx="2857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>
            <a:extLst>
              <a:ext uri="{FF2B5EF4-FFF2-40B4-BE49-F238E27FC236}">
                <a16:creationId xmlns:a16="http://schemas.microsoft.com/office/drawing/2014/main" id="{6971F9EC-4000-2B2B-3D92-B34FF55BE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429" y="1939835"/>
            <a:ext cx="2571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A white rectangular object with a green border&#10;&#10;AI-generated content may be incorrect.">
            <a:extLst>
              <a:ext uri="{FF2B5EF4-FFF2-40B4-BE49-F238E27FC236}">
                <a16:creationId xmlns:a16="http://schemas.microsoft.com/office/drawing/2014/main" id="{590B1B2E-1735-C7C7-D1BB-07AAFF35E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791" y="4291840"/>
            <a:ext cx="34290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4D536B-F8A0-A41A-8A23-81416A0BA89B}"/>
              </a:ext>
            </a:extLst>
          </p:cNvPr>
          <p:cNvSpPr txBox="1"/>
          <p:nvPr/>
        </p:nvSpPr>
        <p:spPr>
          <a:xfrm>
            <a:off x="4780048" y="4390425"/>
            <a:ext cx="6096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IN" b="1">
                <a:solidFill>
                  <a:srgbClr val="002B49"/>
                </a:solidFill>
                <a:latin typeface="Poppins"/>
                <a:cs typeface="Poppins"/>
              </a:rPr>
              <a:t>Metric Tracking</a:t>
            </a:r>
            <a:endParaRPr lang="en-IN" b="1">
              <a:solidFill>
                <a:srgbClr val="002B49"/>
              </a:solidFill>
              <a:effectLst/>
              <a:latin typeface="Poppins"/>
              <a:cs typeface="Poppi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9C37A2-2B93-2D43-BC4F-73256464B818}"/>
              </a:ext>
            </a:extLst>
          </p:cNvPr>
          <p:cNvSpPr txBox="1"/>
          <p:nvPr/>
        </p:nvSpPr>
        <p:spPr>
          <a:xfrm>
            <a:off x="4774525" y="4810814"/>
            <a:ext cx="2917532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rgbClr val="1E293B"/>
                </a:solidFill>
                <a:latin typeface="Inter"/>
              </a:rPr>
              <a:t>Real time multi metric tracking providing insights about bottle necks and shortcomings. This includes container health and ship delay distribution data.</a:t>
            </a:r>
          </a:p>
        </p:txBody>
      </p:sp>
      <p:pic>
        <p:nvPicPr>
          <p:cNvPr id="10" name="Picture 14">
            <a:extLst>
              <a:ext uri="{FF2B5EF4-FFF2-40B4-BE49-F238E27FC236}">
                <a16:creationId xmlns:a16="http://schemas.microsoft.com/office/drawing/2014/main" id="{B51AFCCB-E5C9-0D6C-A632-0455D9CD5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751" y="4446417"/>
            <a:ext cx="2571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A white rectangular object with a green border&#10;&#10;AI-generated content may be incorrect.">
            <a:extLst>
              <a:ext uri="{FF2B5EF4-FFF2-40B4-BE49-F238E27FC236}">
                <a16:creationId xmlns:a16="http://schemas.microsoft.com/office/drawing/2014/main" id="{70390F42-8612-7A18-58EE-A155132A0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62" y="4325960"/>
            <a:ext cx="34290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0D333F-AB70-EDD3-1FE2-11BBC0F064F2}"/>
              </a:ext>
            </a:extLst>
          </p:cNvPr>
          <p:cNvSpPr txBox="1"/>
          <p:nvPr/>
        </p:nvSpPr>
        <p:spPr>
          <a:xfrm>
            <a:off x="1090472" y="4430590"/>
            <a:ext cx="6096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IN" b="1">
                <a:solidFill>
                  <a:srgbClr val="002B49"/>
                </a:solidFill>
                <a:latin typeface="Poppins"/>
                <a:cs typeface="Poppins"/>
              </a:rPr>
              <a:t>Handling Congestion</a:t>
            </a:r>
            <a:endParaRPr lang="en-IN" b="1">
              <a:solidFill>
                <a:srgbClr val="002B49"/>
              </a:solidFill>
              <a:effectLst/>
              <a:latin typeface="Poppins"/>
              <a:cs typeface="Poppi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2F0706-4978-6DAC-7A01-29FF786DE8F7}"/>
              </a:ext>
            </a:extLst>
          </p:cNvPr>
          <p:cNvSpPr txBox="1"/>
          <p:nvPr/>
        </p:nvSpPr>
        <p:spPr>
          <a:xfrm>
            <a:off x="628217" y="4799922"/>
            <a:ext cx="3403600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US" err="1">
                <a:solidFill>
                  <a:srgbClr val="1E293B"/>
                </a:solidFill>
                <a:latin typeface="Inter"/>
              </a:rPr>
              <a:t>VisionGate</a:t>
            </a:r>
            <a:r>
              <a:rPr lang="en-US">
                <a:solidFill>
                  <a:srgbClr val="1E293B"/>
                </a:solidFill>
                <a:latin typeface="Inter"/>
              </a:rPr>
              <a:t> constantly keeps track of ship delay schedule from controllers and notify truck drivers or next step delivery agents to avoid congestion of too many vehicles at once on the port.</a:t>
            </a:r>
            <a:endParaRPr lang="en-US">
              <a:solidFill>
                <a:srgbClr val="1E293B"/>
              </a:solidFill>
              <a:effectLst/>
              <a:latin typeface="Inter"/>
            </a:endParaRPr>
          </a:p>
        </p:txBody>
      </p:sp>
      <p:pic>
        <p:nvPicPr>
          <p:cNvPr id="18" name="Picture 16">
            <a:extLst>
              <a:ext uri="{FF2B5EF4-FFF2-40B4-BE49-F238E27FC236}">
                <a16:creationId xmlns:a16="http://schemas.microsoft.com/office/drawing/2014/main" id="{F1A24FF8-E5CF-217E-E8ED-70C82C408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468" y="4481898"/>
            <a:ext cx="2857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8FAE4F01-9EB4-6568-0534-5174AA806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176" y="4269094"/>
            <a:ext cx="34290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A0252F0-75E7-88DD-8F73-BE2A1476C221}"/>
              </a:ext>
            </a:extLst>
          </p:cNvPr>
          <p:cNvSpPr txBox="1"/>
          <p:nvPr/>
        </p:nvSpPr>
        <p:spPr>
          <a:xfrm>
            <a:off x="8713243" y="4313503"/>
            <a:ext cx="6096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IN" b="1">
                <a:solidFill>
                  <a:srgbClr val="002B49"/>
                </a:solidFill>
                <a:latin typeface="Poppins"/>
                <a:cs typeface="Poppins"/>
              </a:rPr>
              <a:t>Weather Aware Cargo</a:t>
            </a:r>
          </a:p>
          <a:p>
            <a:r>
              <a:rPr lang="en-IN" b="1">
                <a:solidFill>
                  <a:srgbClr val="002B49"/>
                </a:solidFill>
                <a:latin typeface="Poppins"/>
                <a:cs typeface="Poppins"/>
              </a:rPr>
              <a:t>Decisions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9480D1-E4FC-DBC7-E94B-9BD5588E2CF2}"/>
              </a:ext>
            </a:extLst>
          </p:cNvPr>
          <p:cNvSpPr txBox="1"/>
          <p:nvPr/>
        </p:nvSpPr>
        <p:spPr>
          <a:xfrm>
            <a:off x="8510431" y="4836102"/>
            <a:ext cx="3429001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rgbClr val="1E293B"/>
                </a:solidFill>
              </a:rPr>
              <a:t>Some containers that have a few structural faults cannot be transferred to ports with certain climates. We are handling that by suggesting what ports cannot be used to transfer certain cargo.</a:t>
            </a:r>
          </a:p>
          <a:p>
            <a:endParaRPr lang="en-US">
              <a:solidFill>
                <a:srgbClr val="1E293B"/>
              </a:solidFill>
              <a:latin typeface="Inter"/>
            </a:endParaRPr>
          </a:p>
        </p:txBody>
      </p:sp>
      <p:pic>
        <p:nvPicPr>
          <p:cNvPr id="24" name="Picture 18">
            <a:extLst>
              <a:ext uri="{FF2B5EF4-FFF2-40B4-BE49-F238E27FC236}">
                <a16:creationId xmlns:a16="http://schemas.microsoft.com/office/drawing/2014/main" id="{65D9078A-D3E5-FB31-80EE-F4E304FCC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801" y="4385058"/>
            <a:ext cx="2571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675" y="237286"/>
            <a:ext cx="11296650" cy="614233"/>
          </a:xfrm>
          <a:prstGeom prst="rect">
            <a:avLst/>
          </a:prstGeom>
        </p:spPr>
        <p:txBody>
          <a:bodyPr vert="horz" wrap="square" lIns="0" tIns="1206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IN"/>
              <a:t>PROPOSED</a:t>
            </a:r>
            <a:r>
              <a:rPr lang="en-IN" spc="-155"/>
              <a:t> </a:t>
            </a:r>
            <a:r>
              <a:rPr lang="en-IN"/>
              <a:t>SOLUTION/SOLUTION</a:t>
            </a:r>
            <a:r>
              <a:rPr lang="en-IN" spc="-155"/>
              <a:t> </a:t>
            </a:r>
            <a:r>
              <a:rPr lang="en-IN" spc="-10"/>
              <a:t>OVERVIEW</a:t>
            </a:r>
            <a:endParaRPr spc="-1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</a:t>
            </a:fld>
            <a:endParaRPr spc="-25"/>
          </a:p>
        </p:txBody>
      </p:sp>
      <p:pic>
        <p:nvPicPr>
          <p:cNvPr id="4101" name="Picture 5">
            <a:extLst>
              <a:ext uri="{FF2B5EF4-FFF2-40B4-BE49-F238E27FC236}">
                <a16:creationId xmlns:a16="http://schemas.microsoft.com/office/drawing/2014/main" id="{D688EFD3-7F69-6129-764D-1AF745ED5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7519" y="258343"/>
            <a:ext cx="14478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A57C786-31CD-B2D1-67A8-44B42A155BC0}"/>
              </a:ext>
            </a:extLst>
          </p:cNvPr>
          <p:cNvSpPr txBox="1"/>
          <p:nvPr/>
        </p:nvSpPr>
        <p:spPr>
          <a:xfrm>
            <a:off x="122301" y="115491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600" b="1">
                <a:solidFill>
                  <a:srgbClr val="002B49"/>
                </a:solidFill>
                <a:latin typeface="Poppins" panose="00000500000000000000" pitchFamily="2" charset="0"/>
              </a:rPr>
              <a:t>END-TO-END ARCHITECTURE</a:t>
            </a:r>
            <a:endParaRPr lang="en-IN" sz="1600">
              <a:effectLst/>
            </a:endParaRPr>
          </a:p>
        </p:txBody>
      </p:sp>
      <p:pic>
        <p:nvPicPr>
          <p:cNvPr id="5" name="Picture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D12D86F4-9B76-8225-9D81-E032E0EB2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38" y="1492881"/>
            <a:ext cx="10525125" cy="5229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469" y="264927"/>
            <a:ext cx="11685496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t>TECHNOLOGY</a:t>
            </a:r>
            <a:r>
              <a:rPr spc="-110"/>
              <a:t> </a:t>
            </a:r>
            <a:r>
              <a:rPr lang="en-US" spc="-45"/>
              <a:t>STACK PROPOSED</a:t>
            </a:r>
            <a:endParaRPr spc="-45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25B46CC-1001-80CA-CCF8-46DC0C094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257300"/>
            <a:ext cx="5143500" cy="5478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C06C7B-7D8F-D636-A287-025CEA691E7E}"/>
              </a:ext>
            </a:extLst>
          </p:cNvPr>
          <p:cNvSpPr txBox="1"/>
          <p:nvPr/>
        </p:nvSpPr>
        <p:spPr>
          <a:xfrm>
            <a:off x="680036" y="1479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b="1" i="0" u="none" strike="noStrike">
                <a:solidFill>
                  <a:srgbClr val="002B49"/>
                </a:solidFill>
                <a:effectLst/>
                <a:latin typeface="Poppins" panose="00000500000000000000" pitchFamily="2" charset="0"/>
              </a:rPr>
              <a:t>ML / AI Perspective</a:t>
            </a:r>
            <a:endParaRPr lang="en-IN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C605D4-9FE1-FF05-2A67-7ACB28CA04F4}"/>
              </a:ext>
            </a:extLst>
          </p:cNvPr>
          <p:cNvSpPr txBox="1"/>
          <p:nvPr/>
        </p:nvSpPr>
        <p:spPr>
          <a:xfrm>
            <a:off x="647700" y="1817132"/>
            <a:ext cx="4768266" cy="37548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>
              <a:buNone/>
            </a:pPr>
            <a:r>
              <a:rPr lang="en-US" sz="1400" b="1"/>
              <a:t>Computer Vision Frameworks:</a:t>
            </a:r>
            <a:r>
              <a:rPr lang="en-US" sz="1400"/>
              <a:t> </a:t>
            </a:r>
            <a:r>
              <a:rPr lang="en-US" sz="1400" err="1"/>
              <a:t>PyTorch</a:t>
            </a:r>
            <a:r>
              <a:rPr lang="en-US" sz="1400"/>
              <a:t> / TensorFlow, OpenCV (image pre-processing).</a:t>
            </a:r>
          </a:p>
          <a:p>
            <a:pPr rtl="0">
              <a:buNone/>
            </a:pPr>
            <a:endParaRPr lang="en-US" sz="1400">
              <a:effectLst/>
            </a:endParaRPr>
          </a:p>
          <a:p>
            <a:pPr rtl="0">
              <a:buNone/>
            </a:pPr>
            <a:r>
              <a:rPr lang="en-US" sz="1400" b="1"/>
              <a:t>Object Detection (Damage):</a:t>
            </a:r>
            <a:r>
              <a:rPr lang="en-US" sz="1400"/>
              <a:t> YOLOv8 / YOLOv10 (Trained on custom </a:t>
            </a:r>
            <a:r>
              <a:rPr lang="en-US" sz="1400" err="1"/>
              <a:t>Roboflow</a:t>
            </a:r>
            <a:r>
              <a:rPr lang="en-US" sz="1400"/>
              <a:t> container datasets).</a:t>
            </a:r>
          </a:p>
          <a:p>
            <a:pPr rtl="0">
              <a:buNone/>
            </a:pPr>
            <a:endParaRPr lang="en-US" sz="1400">
              <a:effectLst/>
            </a:endParaRPr>
          </a:p>
          <a:p>
            <a:pPr rtl="0">
              <a:buNone/>
            </a:pPr>
            <a:r>
              <a:rPr lang="en-US" sz="1400" b="1"/>
              <a:t>Text Extraction (OCR):</a:t>
            </a:r>
            <a:r>
              <a:rPr lang="en-US" sz="1400"/>
              <a:t> </a:t>
            </a:r>
            <a:r>
              <a:rPr lang="en-US" sz="1400" err="1"/>
              <a:t>PaddleOCR</a:t>
            </a:r>
            <a:r>
              <a:rPr lang="en-US" sz="1400"/>
              <a:t> (Optimized for edge-deployment text-in-the-wild).</a:t>
            </a:r>
          </a:p>
          <a:p>
            <a:pPr rtl="0">
              <a:buNone/>
            </a:pPr>
            <a:endParaRPr lang="en-US" sz="1400">
              <a:effectLst/>
            </a:endParaRPr>
          </a:p>
          <a:p>
            <a:pPr rtl="0"/>
            <a:r>
              <a:rPr lang="en-IN" sz="1400" b="1"/>
              <a:t>Conversational AI:</a:t>
            </a:r>
            <a:r>
              <a:rPr lang="en-IN" sz="1400"/>
              <a:t> Gemini API</a:t>
            </a:r>
          </a:p>
          <a:p>
            <a:pPr rtl="0">
              <a:buNone/>
            </a:pPr>
            <a:endParaRPr lang="en-IN" sz="1400">
              <a:effectLst/>
            </a:endParaRPr>
          </a:p>
          <a:p>
            <a:pPr rtl="0">
              <a:buNone/>
            </a:pPr>
            <a:r>
              <a:rPr lang="en-US" sz="1400" b="1"/>
              <a:t>LLM Orchestration:</a:t>
            </a:r>
            <a:r>
              <a:rPr lang="en-US" sz="1400"/>
              <a:t> </a:t>
            </a:r>
            <a:r>
              <a:rPr lang="en-US" sz="1400" err="1"/>
              <a:t>LangChain</a:t>
            </a:r>
            <a:r>
              <a:rPr lang="en-US" sz="1400"/>
              <a:t> or </a:t>
            </a:r>
            <a:r>
              <a:rPr lang="en-US" sz="1400" err="1"/>
              <a:t>LlamaIndex</a:t>
            </a:r>
            <a:r>
              <a:rPr lang="en-US" sz="1400"/>
              <a:t> (to connect the LLM to the PostgreSQL database, allowing the AI to query </a:t>
            </a:r>
            <a:r>
              <a:rPr lang="en-US" sz="1400" err="1"/>
              <a:t>realtime</a:t>
            </a:r>
            <a:r>
              <a:rPr lang="en-US" sz="1400"/>
              <a:t> container statuses).</a:t>
            </a:r>
          </a:p>
          <a:p>
            <a:pPr rtl="0">
              <a:buNone/>
            </a:pPr>
            <a:endParaRPr lang="en-US" sz="1400">
              <a:effectLst/>
            </a:endParaRPr>
          </a:p>
          <a:p>
            <a:pPr rtl="0">
              <a:buNone/>
            </a:pPr>
            <a:r>
              <a:rPr lang="en-IN" sz="1400" b="1"/>
              <a:t>Inference Optimization:</a:t>
            </a:r>
            <a:r>
              <a:rPr lang="en-IN" sz="1400"/>
              <a:t> NVIDIA </a:t>
            </a:r>
            <a:r>
              <a:rPr lang="en-IN" sz="1400" err="1"/>
              <a:t>TensorRT</a:t>
            </a:r>
            <a:r>
              <a:rPr lang="en-IN" sz="1400"/>
              <a:t> (to accelerate CV model processing times).</a:t>
            </a:r>
            <a:endParaRPr lang="en-IN" sz="1400">
              <a:effectLst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0BC3107B-01D3-01FF-B255-3BCAF9545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033" y="1257300"/>
            <a:ext cx="5143500" cy="5478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4C2E2A-D2BA-327E-326B-2465993AF33E}"/>
              </a:ext>
            </a:extLst>
          </p:cNvPr>
          <p:cNvSpPr txBox="1"/>
          <p:nvPr/>
        </p:nvSpPr>
        <p:spPr>
          <a:xfrm>
            <a:off x="6653284" y="14478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b="1" i="0" u="none" strike="noStrike">
                <a:solidFill>
                  <a:srgbClr val="00B2A9"/>
                </a:solidFill>
                <a:effectLst/>
                <a:latin typeface="Poppins" panose="00000500000000000000" pitchFamily="2" charset="0"/>
              </a:rPr>
              <a:t>SDE Perspective</a:t>
            </a:r>
            <a:endParaRPr lang="en-IN"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0921C0-2375-B18E-94C8-505844D68DDD}"/>
              </a:ext>
            </a:extLst>
          </p:cNvPr>
          <p:cNvSpPr txBox="1"/>
          <p:nvPr/>
        </p:nvSpPr>
        <p:spPr>
          <a:xfrm>
            <a:off x="6691384" y="1791291"/>
            <a:ext cx="4891016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400" b="1"/>
              <a:t>Frontend:</a:t>
            </a:r>
            <a:r>
              <a:rPr lang="en-IN" sz="1400"/>
              <a:t> React.js / Next.js (or </a:t>
            </a:r>
            <a:r>
              <a:rPr lang="en-IN" sz="1400" err="1"/>
              <a:t>Streamlit</a:t>
            </a:r>
            <a:r>
              <a:rPr lang="en-IN" sz="1400"/>
              <a:t> for rapid prototyping), </a:t>
            </a:r>
            <a:r>
              <a:rPr lang="en-IN" sz="1400" err="1"/>
              <a:t>TailwindCSS</a:t>
            </a:r>
            <a:r>
              <a:rPr lang="en-IN" sz="1400"/>
              <a:t> for responsive UI, </a:t>
            </a:r>
            <a:r>
              <a:rPr lang="en-IN" sz="1400" err="1"/>
              <a:t>WebSockets</a:t>
            </a:r>
            <a:r>
              <a:rPr lang="en-IN" sz="1400"/>
              <a:t> (for real-time chat Assistant updates), </a:t>
            </a:r>
            <a:r>
              <a:rPr lang="en-IN" sz="1400" err="1"/>
              <a:t>jsPDF</a:t>
            </a:r>
            <a:r>
              <a:rPr lang="en-IN" sz="1400"/>
              <a:t> (for generating downloadable compliance reports).</a:t>
            </a:r>
          </a:p>
          <a:p>
            <a:pPr rtl="0">
              <a:buNone/>
            </a:pPr>
            <a:endParaRPr lang="en-IN" sz="1400"/>
          </a:p>
          <a:p>
            <a:pPr rtl="0"/>
            <a:r>
              <a:rPr lang="en-IN" sz="1400" b="1"/>
              <a:t>Backend Server:</a:t>
            </a:r>
            <a:r>
              <a:rPr lang="en-IN" sz="1400"/>
              <a:t> Python (</a:t>
            </a:r>
            <a:r>
              <a:rPr lang="en-IN" sz="1400" err="1"/>
              <a:t>FastAPI</a:t>
            </a:r>
            <a:r>
              <a:rPr lang="en-IN" sz="1400"/>
              <a:t>/</a:t>
            </a:r>
            <a:r>
              <a:rPr lang="en-IN" sz="1400" err="1"/>
              <a:t>Uvicorn</a:t>
            </a:r>
            <a:r>
              <a:rPr lang="en-IN" sz="1400"/>
              <a:t>) for high-performance, asynchronous RESTful API endpoints.</a:t>
            </a:r>
          </a:p>
          <a:p>
            <a:pPr rtl="0"/>
            <a:endParaRPr lang="en-IN" sz="1400"/>
          </a:p>
          <a:p>
            <a:pPr rtl="0"/>
            <a:r>
              <a:rPr lang="en-IN" sz="1400" b="1"/>
              <a:t>Database (RDBMS):</a:t>
            </a:r>
            <a:r>
              <a:rPr lang="en-IN" sz="1400"/>
              <a:t> PostgreSQL (Master-Slave architecture for read/write splitting), B-Tree Indexing on ISO container codes.</a:t>
            </a:r>
          </a:p>
          <a:p>
            <a:pPr rtl="0"/>
            <a:endParaRPr lang="en-IN" sz="1400"/>
          </a:p>
          <a:p>
            <a:pPr rtl="0"/>
            <a:r>
              <a:rPr lang="en-US" sz="1400" b="1"/>
              <a:t>NoSQL / Caching:</a:t>
            </a:r>
            <a:r>
              <a:rPr lang="en-US" sz="1400"/>
              <a:t> Redis (to cache frequent LLM queries and reduce latency).</a:t>
            </a:r>
          </a:p>
          <a:p>
            <a:pPr rtl="0"/>
            <a:endParaRPr lang="en-IN" sz="1400"/>
          </a:p>
          <a:p>
            <a:pPr rtl="0"/>
            <a:r>
              <a:rPr lang="en-US" sz="1400" b="1"/>
              <a:t>Message Broker:</a:t>
            </a:r>
            <a:r>
              <a:rPr lang="en-US" sz="1400"/>
              <a:t> Apache Kafka (to handle spikes in truck arrivals, decoupling image ingestion from DB writes).</a:t>
            </a:r>
          </a:p>
          <a:p>
            <a:pPr rtl="0"/>
            <a:endParaRPr lang="en-IN" sz="1400"/>
          </a:p>
          <a:p>
            <a:pPr rtl="0"/>
            <a:r>
              <a:rPr lang="en-IN" sz="1400" b="1"/>
              <a:t>Infrastructure &amp; DevOps:</a:t>
            </a:r>
            <a:r>
              <a:rPr lang="en-IN" sz="1400"/>
              <a:t> Docker (containerizing microservices), Kubernetes (K8s) for horizontal pod scaling, Nginx (Reverse Proxy &amp; Load Balancing), AWS S3 (for durable image blob storage), AWS EC2/EKS.</a:t>
            </a:r>
          </a:p>
          <a:p>
            <a:pPr rtl="0"/>
            <a:endParaRPr lang="en-IN" sz="1400">
              <a:effectLst/>
            </a:endParaRPr>
          </a:p>
          <a:p>
            <a:pPr rtl="0"/>
            <a:endParaRPr lang="en-IN" sz="1400">
              <a:effectLst/>
            </a:endParaRPr>
          </a:p>
          <a:p>
            <a:pPr rtl="0">
              <a:buNone/>
            </a:pPr>
            <a:endParaRPr lang="en-IN" sz="1400">
              <a:effectLst/>
            </a:endParaRP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F8570DC1-5293-D63E-E116-4A054BAD8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666" y="1355454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DAE02226-E6D2-99B2-B58D-AE8E6FAE0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2922" y="1350023"/>
            <a:ext cx="2857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469" y="156743"/>
            <a:ext cx="11296650" cy="614271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t>BASIC</a:t>
            </a:r>
            <a:r>
              <a:rPr spc="-125"/>
              <a:t> </a:t>
            </a:r>
            <a:r>
              <a:rPr spc="-10"/>
              <a:t>PROTOTYPE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A2794-B20C-D5D5-2A37-B5A44CBD193B}"/>
              </a:ext>
            </a:extLst>
          </p:cNvPr>
          <p:cNvSpPr txBox="1"/>
          <p:nvPr/>
        </p:nvSpPr>
        <p:spPr>
          <a:xfrm>
            <a:off x="1109988" y="154551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>
                <a:solidFill>
                  <a:srgbClr val="00B0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DP World Ecosystem Integration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33467D-CF45-C79C-D07E-911668D81FBA}"/>
              </a:ext>
            </a:extLst>
          </p:cNvPr>
          <p:cNvSpPr txBox="1"/>
          <p:nvPr/>
        </p:nvSpPr>
        <p:spPr>
          <a:xfrm>
            <a:off x="1106977" y="2011621"/>
            <a:ext cx="3429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Designed to plug directly via API into DP World’s CARGOES TOS (Terminal Operating System) and Zodiac. </a:t>
            </a:r>
          </a:p>
          <a:p>
            <a: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Acts as the unified "Entry API" for physical goods entering the DP World digital ecosystem.</a:t>
            </a:r>
            <a:endParaRPr lang="en-IN" sz="14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endParaRPr kumimoji="0" lang="en-US" altLang="en-US" sz="1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665B07-53C0-D58D-CFB3-2ED8E7697FC8}"/>
              </a:ext>
            </a:extLst>
          </p:cNvPr>
          <p:cNvSpPr txBox="1"/>
          <p:nvPr/>
        </p:nvSpPr>
        <p:spPr>
          <a:xfrm>
            <a:off x="7231388" y="2010316"/>
            <a:ext cx="3429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No proprietary hardware required. Implementation is software-first for rapid global deployment.</a:t>
            </a:r>
          </a:p>
          <a:p>
            <a: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Works with any standard IP/RTSP camera setup currently installed at DP World facilities globally.</a:t>
            </a:r>
            <a:endParaRPr lang="en-IN" sz="14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EBC2C7-9228-2935-0102-7BD4EED384E7}"/>
              </a:ext>
            </a:extLst>
          </p:cNvPr>
          <p:cNvSpPr txBox="1"/>
          <p:nvPr/>
        </p:nvSpPr>
        <p:spPr>
          <a:xfrm>
            <a:off x="7303484" y="149295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>
                <a:solidFill>
                  <a:srgbClr val="00B0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Technology-Agnostic Setup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60FF70-10E2-3370-3B2D-1667CC881D26}"/>
              </a:ext>
            </a:extLst>
          </p:cNvPr>
          <p:cNvSpPr txBox="1"/>
          <p:nvPr/>
        </p:nvSpPr>
        <p:spPr>
          <a:xfrm>
            <a:off x="381000" y="921448"/>
            <a:ext cx="11308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b="1">
                <a:latin typeface="Inter"/>
              </a:rPr>
              <a:t>Bridging the Gap: </a:t>
            </a:r>
            <a:r>
              <a:rPr lang="en-US" b="1" err="1">
                <a:latin typeface="Inter"/>
              </a:rPr>
              <a:t>VisionGate</a:t>
            </a:r>
            <a:r>
              <a:rPr lang="en-US" b="1">
                <a:latin typeface="Inter"/>
              </a:rPr>
              <a:t> AI eliminates the silos between Truck Drivers, Port Operators, and Customs.</a:t>
            </a:r>
            <a:endParaRPr lang="en-US" b="1">
              <a:effectLst/>
              <a:latin typeface="Inter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872A869-24AD-F904-AE90-45FB4E2DA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268" y="1532816"/>
            <a:ext cx="4144979" cy="207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C43A6F-FE7A-A9CF-463D-81557BB1679C}"/>
              </a:ext>
            </a:extLst>
          </p:cNvPr>
          <p:cNvSpPr txBox="1"/>
          <p:nvPr/>
        </p:nvSpPr>
        <p:spPr>
          <a:xfrm>
            <a:off x="7278084" y="4193893"/>
            <a:ext cx="6096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600" b="1">
                <a:solidFill>
                  <a:srgbClr val="00B050"/>
                </a:solidFill>
                <a:latin typeface="Poppins"/>
                <a:cs typeface="Poppins"/>
              </a:rPr>
              <a:t>Metric Tracking</a:t>
            </a:r>
            <a:endParaRPr lang="en-IN" sz="1600" b="1">
              <a:solidFill>
                <a:srgbClr val="00B050"/>
              </a:solidFill>
              <a:effectLst/>
              <a:latin typeface="Poppins"/>
              <a:cs typeface="Poppi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67817C-DA32-DE0A-B661-076817FDD81F}"/>
              </a:ext>
            </a:extLst>
          </p:cNvPr>
          <p:cNvSpPr txBox="1"/>
          <p:nvPr/>
        </p:nvSpPr>
        <p:spPr>
          <a:xfrm>
            <a:off x="7303484" y="4790051"/>
            <a:ext cx="3369604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1400">
                <a:latin typeface="Poppins"/>
                <a:cs typeface="Poppins"/>
              </a:rPr>
              <a:t>Auto-generates immutable PDF audit trails.</a:t>
            </a:r>
            <a:endParaRPr lang="en-US" sz="1400">
              <a:solidFill>
                <a:srgbClr val="000000"/>
              </a:solidFill>
              <a:latin typeface="Poppins"/>
              <a:cs typeface="Poppins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400">
                <a:latin typeface="Poppins"/>
                <a:cs typeface="Poppins"/>
              </a:rPr>
              <a:t>All operational constraints are measured under various metrics to determine data point distributions. This helps to suggest areas of improvement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EB7CB1-6448-0684-A37D-DADF196990C5}"/>
              </a:ext>
            </a:extLst>
          </p:cNvPr>
          <p:cNvSpPr txBox="1"/>
          <p:nvPr/>
        </p:nvSpPr>
        <p:spPr>
          <a:xfrm>
            <a:off x="1138164" y="4167664"/>
            <a:ext cx="3366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Logistics &amp; Freight Forwarding</a:t>
            </a:r>
            <a:endParaRPr lang="en-IN" sz="1600">
              <a:solidFill>
                <a:srgbClr val="00B05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FCC9A8-817D-D79C-7836-585D0D4F3FFD}"/>
              </a:ext>
            </a:extLst>
          </p:cNvPr>
          <p:cNvSpPr txBox="1"/>
          <p:nvPr/>
        </p:nvSpPr>
        <p:spPr>
          <a:xfrm>
            <a:off x="1138165" y="4806826"/>
            <a:ext cx="320523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Eliminates the industry standard 3-5% manual data entry error rate.</a:t>
            </a:r>
          </a:p>
          <a:p>
            <a:pPr marL="342900" indent="-342900">
              <a:buAutoNum type="arabicPeriod"/>
            </a:pPr>
            <a:r>
              <a:rPr lang="en-US" sz="1400">
                <a:latin typeface="Poppins" panose="00000500000000000000" pitchFamily="2" charset="0"/>
                <a:cs typeface="Poppins" panose="00000500000000000000" pitchFamily="2" charset="0"/>
              </a:rPr>
              <a:t>Provides forwarders with true real-time visibility the exact second a truck hits the port gate.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B6DFE6C9-E05E-E71F-C48E-8659B4B82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735" y="1532816"/>
            <a:ext cx="4144979" cy="207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7F4046E9-88D1-3512-BF54-2EEE3D12B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164" y="4193892"/>
            <a:ext cx="4044083" cy="2213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566B5396-0697-C95D-91EB-A40BC81B6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971" y="4167665"/>
            <a:ext cx="4119553" cy="222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C3BD-FE63-3822-3168-4F612D715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69" y="156743"/>
            <a:ext cx="11296650" cy="492443"/>
          </a:xfrm>
        </p:spPr>
        <p:txBody>
          <a:bodyPr/>
          <a:lstStyle/>
          <a:p>
            <a:r>
              <a:rPr lang="en-IN"/>
              <a:t>PROTOTYPE SNIPPETS &amp; VIDEO 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DD5E5E-87F7-5E6A-251B-77037D138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62001"/>
            <a:ext cx="1865121" cy="35657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5B0D91-0800-1B8D-09CA-457F9BA876A6}"/>
              </a:ext>
            </a:extLst>
          </p:cNvPr>
          <p:cNvSpPr txBox="1"/>
          <p:nvPr/>
        </p:nvSpPr>
        <p:spPr>
          <a:xfrm>
            <a:off x="-1504" y="4466235"/>
            <a:ext cx="2206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>
                <a:latin typeface="Poppins" panose="00000500000000000000" pitchFamily="2" charset="0"/>
                <a:cs typeface="Poppins" panose="00000500000000000000" pitchFamily="2" charset="0"/>
              </a:rPr>
              <a:t>Supporting Multi-Geography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F729D9-44F3-B9B2-88A4-BD85956E2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033412"/>
            <a:ext cx="4582439" cy="140910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30FA0C-6534-2F41-FE4B-96AB0CF3F23E}"/>
              </a:ext>
            </a:extLst>
          </p:cNvPr>
          <p:cNvSpPr txBox="1"/>
          <p:nvPr/>
        </p:nvSpPr>
        <p:spPr>
          <a:xfrm>
            <a:off x="2232556" y="4382727"/>
            <a:ext cx="36179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Complete Dashboard: Supporting Sustainability Conscious</a:t>
            </a:r>
            <a:endParaRPr lang="en-IN" sz="110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589341-A482-70F5-E0A9-067D5A227BAE}"/>
              </a:ext>
            </a:extLst>
          </p:cNvPr>
          <p:cNvSpPr txBox="1"/>
          <p:nvPr/>
        </p:nvSpPr>
        <p:spPr>
          <a:xfrm>
            <a:off x="9810551" y="3431759"/>
            <a:ext cx="2322699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100">
                <a:latin typeface="Poppins"/>
                <a:cs typeface="Poppins"/>
              </a:rPr>
              <a:t>Container Inspection Analysis with Thermal Image Support</a:t>
            </a: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B8C5D8-F5D5-528E-6B1E-A4203A21CBBE}"/>
              </a:ext>
            </a:extLst>
          </p:cNvPr>
          <p:cNvSpPr txBox="1"/>
          <p:nvPr/>
        </p:nvSpPr>
        <p:spPr>
          <a:xfrm>
            <a:off x="1006258" y="6442521"/>
            <a:ext cx="2432076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N" sz="1100">
                <a:latin typeface="Poppins"/>
                <a:cs typeface="Poppins"/>
              </a:rPr>
              <a:t>AI Chat with PDF upload support</a:t>
            </a:r>
            <a:endParaRPr lang="en-IN" sz="11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45A625-F0DA-14C4-E6DD-DBCFC4F63F3B}"/>
              </a:ext>
            </a:extLst>
          </p:cNvPr>
          <p:cNvSpPr txBox="1"/>
          <p:nvPr/>
        </p:nvSpPr>
        <p:spPr>
          <a:xfrm>
            <a:off x="8328372" y="6439647"/>
            <a:ext cx="17796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>
                <a:latin typeface="Poppins" panose="00000500000000000000" pitchFamily="2" charset="0"/>
                <a:cs typeface="Poppins" panose="00000500000000000000" pitchFamily="2" charset="0"/>
              </a:rPr>
              <a:t>Downloadable Reports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313283-CE17-3131-BF2A-9AE28E1224C0}"/>
              </a:ext>
            </a:extLst>
          </p:cNvPr>
          <p:cNvSpPr txBox="1"/>
          <p:nvPr/>
        </p:nvSpPr>
        <p:spPr>
          <a:xfrm>
            <a:off x="10439400" y="525780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u="sng">
                <a:solidFill>
                  <a:srgbClr val="00B0F0"/>
                </a:solidFill>
                <a:latin typeface="Poppins" panose="00000500000000000000" pitchFamily="2" charset="0"/>
                <a:cs typeface="Poppins" panose="00000500000000000000" pitchFamily="2" charset="0"/>
                <a:hlinkClick r:id="rId4"/>
              </a:rPr>
              <a:t>VIDEO DEMO </a:t>
            </a:r>
          </a:p>
          <a:p>
            <a:r>
              <a:rPr lang="en-IN" sz="1200" b="1" u="sng">
                <a:solidFill>
                  <a:srgbClr val="00B0F0"/>
                </a:solidFill>
                <a:latin typeface="Poppins" panose="00000500000000000000" pitchFamily="2" charset="0"/>
                <a:cs typeface="Poppins" panose="00000500000000000000" pitchFamily="2" charset="0"/>
                <a:hlinkClick r:id="rId4"/>
              </a:rPr>
              <a:t>(CLICK PLEASE)</a:t>
            </a:r>
            <a:endParaRPr lang="en-IN" sz="1200" b="1" u="sng">
              <a:solidFill>
                <a:srgbClr val="00B0F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7C7F25-E606-429F-9D2A-3FE4680E6D1E}"/>
              </a:ext>
            </a:extLst>
          </p:cNvPr>
          <p:cNvSpPr txBox="1"/>
          <p:nvPr/>
        </p:nvSpPr>
        <p:spPr>
          <a:xfrm>
            <a:off x="10719779" y="5881535"/>
            <a:ext cx="7296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u="sng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  <a:hlinkClick r:id="rId5"/>
              </a:rPr>
              <a:t>GitHub</a:t>
            </a:r>
            <a:endParaRPr lang="en-IN" sz="1200" b="1" u="sng">
              <a:solidFill>
                <a:srgbClr val="00B05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1BE696-98D0-94C0-20E1-7CB8700551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214" y="758804"/>
            <a:ext cx="4416861" cy="1749599"/>
          </a:xfrm>
          <a:prstGeom prst="rect">
            <a:avLst/>
          </a:prstGeom>
        </p:spPr>
      </p:pic>
      <p:pic>
        <p:nvPicPr>
          <p:cNvPr id="6" name="Picture 5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A309C290-7231-2F7D-C451-1A05F07DEE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2932" y="2499495"/>
            <a:ext cx="4425864" cy="825612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FF02EB-EFED-6022-7E5B-7CC60C21AF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3370" y="3330402"/>
            <a:ext cx="4415425" cy="1011388"/>
          </a:xfrm>
          <a:prstGeom prst="rect">
            <a:avLst/>
          </a:prstGeom>
        </p:spPr>
      </p:pic>
      <p:pic>
        <p:nvPicPr>
          <p:cNvPr id="10" name="Picture 9" descr="A screenshot of a web page&#10;&#10;AI-generated content may be incorrect.">
            <a:extLst>
              <a:ext uri="{FF2B5EF4-FFF2-40B4-BE49-F238E27FC236}">
                <a16:creationId xmlns:a16="http://schemas.microsoft.com/office/drawing/2014/main" id="{D429E520-2718-30BA-BE50-B74069D9F6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9315" y="758562"/>
            <a:ext cx="4561563" cy="2585150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4768B8-F7B8-835A-8DAB-53D9B46B86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9315" y="3329130"/>
            <a:ext cx="2922742" cy="1421030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542578-1A18-92A5-CAE1-E00A539DE28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9534" y="5025259"/>
            <a:ext cx="3058440" cy="14107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5F183D8-B3D9-B1D9-766A-9E660267CA55}"/>
              </a:ext>
            </a:extLst>
          </p:cNvPr>
          <p:cNvSpPr txBox="1"/>
          <p:nvPr/>
        </p:nvSpPr>
        <p:spPr>
          <a:xfrm>
            <a:off x="5148773" y="6441169"/>
            <a:ext cx="274319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>
                <a:latin typeface="Poppins"/>
                <a:cs typeface="Poppins"/>
              </a:rPr>
              <a:t>Ship Delay Management</a:t>
            </a:r>
            <a:endParaRPr lang="en-US" sz="1100">
              <a:solidFill>
                <a:srgbClr val="000000"/>
              </a:solidFill>
              <a:latin typeface="Poppins"/>
              <a:cs typeface="Poppins"/>
            </a:endParaRPr>
          </a:p>
        </p:txBody>
      </p:sp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D8ABEB-CA6E-A9D7-0491-42D68D47D2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2813" y="5022220"/>
            <a:ext cx="2118075" cy="141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737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422" y="264927"/>
            <a:ext cx="1168053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/>
              <a:t>MARKET</a:t>
            </a:r>
            <a:r>
              <a:rPr spc="-190"/>
              <a:t> </a:t>
            </a:r>
            <a:r>
              <a:rPr spc="-10"/>
              <a:t>ANALYSIS</a:t>
            </a:r>
            <a:r>
              <a:rPr lang="en-IN" spc="-10"/>
              <a:t> &amp; ESG ALIGNMENT</a:t>
            </a:r>
            <a:endParaRPr spc="-1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E859E20-1D00-FEF9-EBDE-CB1024745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9311" y="149320"/>
            <a:ext cx="117157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A170CB-B2E3-0943-FC79-58074342681A}"/>
              </a:ext>
            </a:extLst>
          </p:cNvPr>
          <p:cNvSpPr txBox="1"/>
          <p:nvPr/>
        </p:nvSpPr>
        <p:spPr>
          <a:xfrm>
            <a:off x="1348800" y="1013326"/>
            <a:ext cx="6096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600" b="1">
                <a:solidFill>
                  <a:srgbClr val="00B050"/>
                </a:solidFill>
                <a:latin typeface="Poppins"/>
                <a:cs typeface="Poppins"/>
              </a:rPr>
              <a:t>Market Analysis</a:t>
            </a:r>
            <a:endParaRPr lang="en-IN" sz="1600" b="1">
              <a:solidFill>
                <a:srgbClr val="00B05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032F8E-EB77-C2D3-B517-8C581F9CF001}"/>
              </a:ext>
            </a:extLst>
          </p:cNvPr>
          <p:cNvSpPr txBox="1"/>
          <p:nvPr/>
        </p:nvSpPr>
        <p:spPr>
          <a:xfrm>
            <a:off x="1345788" y="1479430"/>
            <a:ext cx="3429000" cy="46166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400">
                <a:solidFill>
                  <a:schemeClr val="tx1"/>
                </a:solidFill>
                <a:latin typeface="Poppins"/>
                <a:cs typeface="Poppins"/>
              </a:rPr>
              <a:t>Total Available Market – Majority market share is in Port automation and automated container terminal market. Taking relevant approximations, TAM is measured to be 10 Billion USD with combined CAGR of 9.2 percent.</a:t>
            </a:r>
            <a:endParaRPr lang="en-US" altLang="en-US" sz="1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oppins"/>
              <a:cs typeface="Poppins"/>
            </a:endParaRPr>
          </a:p>
          <a:p>
            <a: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400">
                <a:solidFill>
                  <a:schemeClr val="tx1"/>
                </a:solidFill>
                <a:latin typeface="Poppins"/>
                <a:cs typeface="Poppins"/>
              </a:rPr>
              <a:t>Based on segmentation, 55 percent of available market is software/services, and accounting for the fact that some ports are more conserved about their approaches, we can estimate </a:t>
            </a:r>
            <a:r>
              <a:rPr lang="en-US" altLang="en-US" sz="1400" err="1">
                <a:solidFill>
                  <a:schemeClr val="tx1"/>
                </a:solidFill>
                <a:latin typeface="Poppins"/>
                <a:cs typeface="Poppins"/>
              </a:rPr>
              <a:t>Servicable</a:t>
            </a:r>
            <a:r>
              <a:rPr lang="en-US" altLang="en-US" sz="1400">
                <a:solidFill>
                  <a:schemeClr val="tx1"/>
                </a:solidFill>
                <a:latin typeface="Poppins"/>
                <a:cs typeface="Poppins"/>
              </a:rPr>
              <a:t> Available Market(SAM) to be 4 </a:t>
            </a:r>
            <a:r>
              <a:rPr lang="en-US" altLang="en-US" sz="1400" err="1">
                <a:solidFill>
                  <a:schemeClr val="tx1"/>
                </a:solidFill>
                <a:latin typeface="Poppins"/>
                <a:cs typeface="Poppins"/>
              </a:rPr>
              <a:t>billionUSD</a:t>
            </a:r>
            <a:r>
              <a:rPr lang="en-US" altLang="en-US" sz="1400">
                <a:solidFill>
                  <a:schemeClr val="tx1"/>
                </a:solidFill>
                <a:latin typeface="Poppins"/>
                <a:cs typeface="Poppins"/>
              </a:rPr>
              <a:t> with the same 9.2 CAGR.</a:t>
            </a:r>
          </a:p>
          <a:p>
            <a:pPr marL="342900" indent="-342900" algn="l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400">
                <a:solidFill>
                  <a:schemeClr val="tx1"/>
                </a:solidFill>
                <a:latin typeface="Poppins"/>
                <a:cs typeface="Poppins"/>
              </a:rPr>
              <a:t>Targeting Asian and Middle East ports first, we can realistically obtain an early-stage market share of 200-500 million USD.</a:t>
            </a:r>
            <a:endParaRPr lang="en-US" altLang="en-US" sz="140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6" name="Picture 2" descr="A black screen with a black background&#10;&#10;AI-generated content may be incorrect.">
            <a:extLst>
              <a:ext uri="{FF2B5EF4-FFF2-40B4-BE49-F238E27FC236}">
                <a16:creationId xmlns:a16="http://schemas.microsoft.com/office/drawing/2014/main" id="{B917ABDA-39DA-A9C6-6432-8A6967ABF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32" y="1012523"/>
            <a:ext cx="4144979" cy="5210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F6FB93-73B3-BCEB-0AA0-046F82F8691B}"/>
              </a:ext>
            </a:extLst>
          </p:cNvPr>
          <p:cNvSpPr txBox="1"/>
          <p:nvPr/>
        </p:nvSpPr>
        <p:spPr>
          <a:xfrm>
            <a:off x="6416703" y="1013325"/>
            <a:ext cx="6096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600" b="1">
                <a:solidFill>
                  <a:srgbClr val="00B050"/>
                </a:solidFill>
                <a:latin typeface="Poppins"/>
                <a:cs typeface="Poppins"/>
              </a:rPr>
              <a:t>Sustainability Conscious &amp; ESG </a:t>
            </a:r>
            <a:r>
              <a:rPr lang="en-IN" sz="1600" b="1" err="1">
                <a:solidFill>
                  <a:srgbClr val="00B050"/>
                </a:solidFill>
                <a:latin typeface="Poppins"/>
                <a:cs typeface="Poppins"/>
              </a:rPr>
              <a:t>Complian</a:t>
            </a:r>
            <a:r>
              <a:rPr lang="en-IN" sz="1600" b="1">
                <a:solidFill>
                  <a:srgbClr val="00B050"/>
                </a:solidFill>
                <a:latin typeface="Poppins"/>
                <a:cs typeface="Poppins"/>
              </a:rPr>
              <a:t>ce</a:t>
            </a:r>
            <a:endParaRPr lang="en-IN" sz="1600" b="1">
              <a:solidFill>
                <a:srgbClr val="00B05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3F5A72-27A6-7FD6-0F06-DC31020C4A9A}"/>
              </a:ext>
            </a:extLst>
          </p:cNvPr>
          <p:cNvSpPr txBox="1"/>
          <p:nvPr/>
        </p:nvSpPr>
        <p:spPr>
          <a:xfrm>
            <a:off x="6413692" y="1479429"/>
            <a:ext cx="3429000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400">
                <a:solidFill>
                  <a:schemeClr val="tx1"/>
                </a:solidFill>
                <a:latin typeface="Poppins"/>
                <a:cs typeface="Poppins"/>
              </a:rPr>
              <a:t>Reuters has conducted a study that shows that carbon emissions can be effectively reduced in logistics using AI tools.</a:t>
            </a:r>
            <a:endParaRPr lang="en-US" altLang="en-US" sz="1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oppins"/>
              <a:cs typeface="Poppins"/>
            </a:endParaRPr>
          </a:p>
          <a:p>
            <a: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400">
                <a:solidFill>
                  <a:schemeClr val="tx1"/>
                </a:solidFill>
                <a:latin typeface="Poppins"/>
                <a:cs typeface="Poppins"/>
              </a:rPr>
              <a:t>From a Governance standpoint, this solution moves towards higher traceability, which will lead to better compliance systems</a:t>
            </a:r>
          </a:p>
        </p:txBody>
      </p:sp>
      <p:pic>
        <p:nvPicPr>
          <p:cNvPr id="6" name="Picture 2" descr="A black screen with a black background&#10;&#10;AI-generated content may be incorrect.">
            <a:extLst>
              <a:ext uri="{FF2B5EF4-FFF2-40B4-BE49-F238E27FC236}">
                <a16:creationId xmlns:a16="http://schemas.microsoft.com/office/drawing/2014/main" id="{F9E3B47B-DEBC-D72C-69A6-894C0F56E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354" y="1012522"/>
            <a:ext cx="4792157" cy="2781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107EF1-45E7-CDF7-5729-B0D98B822600}"/>
              </a:ext>
            </a:extLst>
          </p:cNvPr>
          <p:cNvSpPr txBox="1"/>
          <p:nvPr/>
        </p:nvSpPr>
        <p:spPr>
          <a:xfrm>
            <a:off x="6368322" y="4025039"/>
            <a:ext cx="60960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600" b="1">
                <a:solidFill>
                  <a:srgbClr val="00B050"/>
                </a:solidFill>
                <a:latin typeface="Poppins"/>
                <a:cs typeface="Poppins"/>
              </a:rPr>
              <a:t>Multi-Geography </a:t>
            </a:r>
            <a:endParaRPr lang="en-IN" sz="1600" b="1">
              <a:solidFill>
                <a:srgbClr val="00B050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B844A-F2F4-DB8A-96DC-977B24DB7498}"/>
              </a:ext>
            </a:extLst>
          </p:cNvPr>
          <p:cNvSpPr txBox="1"/>
          <p:nvPr/>
        </p:nvSpPr>
        <p:spPr>
          <a:xfrm>
            <a:off x="6365310" y="4491143"/>
            <a:ext cx="3429000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l" rtl="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sz="1400">
                <a:solidFill>
                  <a:schemeClr val="tx1"/>
                </a:solidFill>
                <a:latin typeface="Poppins"/>
                <a:cs typeface="Poppins"/>
              </a:rPr>
              <a:t>AI Assistant allows a Dubai user to query in Arabic while a driver receives automated Hindi text instructions.</a:t>
            </a:r>
          </a:p>
          <a:p>
            <a:pPr marL="342900" indent="-342900" algn="l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sz="1400">
                <a:solidFill>
                  <a:schemeClr val="tx1"/>
                </a:solidFill>
                <a:latin typeface="Poppins"/>
                <a:cs typeface="Poppins"/>
              </a:rPr>
              <a:t>Support of multiple ports across different countries</a:t>
            </a:r>
          </a:p>
          <a:p>
            <a:pPr marL="342900" indent="-342900" algn="l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altLang="en-US" sz="1400">
              <a:solidFill>
                <a:schemeClr val="tx1"/>
              </a:solidFill>
              <a:latin typeface="Poppins"/>
              <a:cs typeface="Poppins"/>
            </a:endParaRPr>
          </a:p>
        </p:txBody>
      </p:sp>
      <p:pic>
        <p:nvPicPr>
          <p:cNvPr id="9" name="Picture 2" descr="A black screen with a black background&#10;&#10;AI-generated content may be incorrect.">
            <a:extLst>
              <a:ext uri="{FF2B5EF4-FFF2-40B4-BE49-F238E27FC236}">
                <a16:creationId xmlns:a16="http://schemas.microsoft.com/office/drawing/2014/main" id="{4533F044-BF7B-364B-3FC7-CBAA9768E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532" y="4022579"/>
            <a:ext cx="3602185" cy="220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0212-7C1E-3CE1-200B-DD4899CB8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469" y="156743"/>
            <a:ext cx="11296650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BUSINESS CASE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908168D-0B42-1B04-C43B-5D8D8C66D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71" y="1314165"/>
            <a:ext cx="5120754" cy="515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BD540C-9D43-FBF6-800F-E4E26CD7A471}"/>
              </a:ext>
            </a:extLst>
          </p:cNvPr>
          <p:cNvSpPr txBox="1"/>
          <p:nvPr/>
        </p:nvSpPr>
        <p:spPr>
          <a:xfrm>
            <a:off x="680036" y="1479279"/>
            <a:ext cx="6096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IN" b="1">
                <a:solidFill>
                  <a:srgbClr val="002B49"/>
                </a:solidFill>
                <a:latin typeface="Poppins"/>
                <a:cs typeface="Poppins"/>
              </a:rPr>
              <a:t>Value Proposition</a:t>
            </a:r>
            <a:endParaRPr lang="en-IN" b="1">
              <a:solidFill>
                <a:srgbClr val="002B49"/>
              </a:solidFill>
              <a:effectLst/>
              <a:latin typeface="Poppins"/>
              <a:cs typeface="Poppi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1516A3-7C23-0637-0B23-04A83955256F}"/>
              </a:ext>
            </a:extLst>
          </p:cNvPr>
          <p:cNvSpPr txBox="1"/>
          <p:nvPr/>
        </p:nvSpPr>
        <p:spPr>
          <a:xfrm>
            <a:off x="647700" y="1817132"/>
            <a:ext cx="4768266" cy="46166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US" sz="1400" b="1"/>
              <a:t>Inspection Time:</a:t>
            </a:r>
            <a:r>
              <a:rPr lang="en-US" sz="1400"/>
              <a:t> Huge value of this solution lies in decreasing inspection time, our OCR and thermal imaging analysis completely eliminates human intervention from commercial cargo inspection.</a:t>
            </a:r>
            <a:endParaRPr lang="en-US" sz="1400">
              <a:solidFill>
                <a:srgbClr val="000000"/>
              </a:solidFill>
            </a:endParaRPr>
          </a:p>
          <a:p>
            <a:pPr rtl="0">
              <a:buNone/>
            </a:pPr>
            <a:endParaRPr lang="en-US" sz="1400">
              <a:effectLst/>
            </a:endParaRPr>
          </a:p>
          <a:p>
            <a:pPr rtl="0"/>
            <a:r>
              <a:rPr lang="en-US" sz="1400" b="1"/>
              <a:t>Inspection Costs:</a:t>
            </a:r>
            <a:r>
              <a:rPr lang="en-US" sz="1400"/>
              <a:t> We are saving 30-40 minutes per inspection, considering  medium frequency port with 2000 containers per day with the industry standard inspection rate of 10 percent at random. We save </a:t>
            </a:r>
            <a:r>
              <a:rPr lang="en-US" sz="1400" err="1"/>
              <a:t>upto</a:t>
            </a:r>
            <a:r>
              <a:rPr lang="en-US" sz="1400"/>
              <a:t> 117 man hours everyday. Considering workforce employees work 8 hours everyday, port can work on same efficiency with 14 workers less on average.</a:t>
            </a:r>
          </a:p>
          <a:p>
            <a:pPr rtl="0">
              <a:buNone/>
            </a:pPr>
            <a:endParaRPr lang="en-US" sz="1400">
              <a:effectLst/>
            </a:endParaRPr>
          </a:p>
          <a:p>
            <a:pPr rtl="0"/>
            <a:r>
              <a:rPr lang="en-US" sz="1400" b="1"/>
              <a:t>Decision </a:t>
            </a:r>
            <a:r>
              <a:rPr lang="en-US" sz="1400" b="1" err="1"/>
              <a:t>accurac</a:t>
            </a:r>
            <a:r>
              <a:rPr lang="en-US" sz="1400" b="1"/>
              <a:t>y:</a:t>
            </a:r>
            <a:r>
              <a:rPr lang="en-US" sz="1400"/>
              <a:t> The feature that assigns cargo issues to which ports it shouldn't be assigned to according to pre-defined data saves a lot of operational costs that comes from not considering cargo issues at ports. Even if 1 percent of slightly degraded cargo gets affected from this, we can be looking at goods worth millions of dollars as a cost save.</a:t>
            </a:r>
          </a:p>
          <a:p>
            <a:pPr rtl="0">
              <a:buNone/>
            </a:pPr>
            <a:endParaRPr lang="en-US" sz="1400">
              <a:effectLst/>
            </a:endParaRPr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1CD8EF7E-18A5-7BC0-843A-719C11C36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666" y="1355454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A white screen with green border&#10;&#10;AI-generated content may be incorrect.">
            <a:extLst>
              <a:ext uri="{FF2B5EF4-FFF2-40B4-BE49-F238E27FC236}">
                <a16:creationId xmlns:a16="http://schemas.microsoft.com/office/drawing/2014/main" id="{83A62B9A-57AB-C466-86A7-9D95A9A0A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033" y="1291419"/>
            <a:ext cx="5120754" cy="5171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903B0A2-FEB2-A30E-D12F-FFDEB600BDF6}"/>
              </a:ext>
            </a:extLst>
          </p:cNvPr>
          <p:cNvSpPr txBox="1"/>
          <p:nvPr/>
        </p:nvSpPr>
        <p:spPr>
          <a:xfrm>
            <a:off x="6653284" y="1447800"/>
            <a:ext cx="6096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IN" b="1">
                <a:solidFill>
                  <a:srgbClr val="00B2A9"/>
                </a:solidFill>
                <a:latin typeface="Poppins"/>
                <a:cs typeface="Poppins"/>
              </a:rPr>
              <a:t>Revenue Model</a:t>
            </a:r>
            <a:endParaRPr lang="en-IN" b="1">
              <a:solidFill>
                <a:srgbClr val="00B2A9"/>
              </a:solidFill>
              <a:effectLst/>
              <a:latin typeface="Poppins"/>
              <a:cs typeface="Poppin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5CFDE9-CCFE-1B27-C865-87D360A0CC34}"/>
              </a:ext>
            </a:extLst>
          </p:cNvPr>
          <p:cNvSpPr txBox="1"/>
          <p:nvPr/>
        </p:nvSpPr>
        <p:spPr>
          <a:xfrm>
            <a:off x="6748250" y="1859530"/>
            <a:ext cx="4891016" cy="46166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IN" sz="1400" b="1"/>
              <a:t>Basic Revenue Model:</a:t>
            </a:r>
            <a:r>
              <a:rPr lang="en-IN" sz="1400"/>
              <a:t> Vision Gate AI will follow a SaaS plus enterprise hybrid revenue model.</a:t>
            </a:r>
          </a:p>
          <a:p>
            <a:pPr rtl="0">
              <a:buNone/>
            </a:pPr>
            <a:endParaRPr lang="en-IN" sz="1400"/>
          </a:p>
          <a:p>
            <a:pPr rtl="0"/>
            <a:r>
              <a:rPr lang="en-IN" sz="1400" b="1"/>
              <a:t>Subscription Model:</a:t>
            </a:r>
            <a:r>
              <a:rPr lang="en-IN" sz="1400"/>
              <a:t> Outsourcing the products to non DP world ports, charging them an annual premium based on number of terminals and predicted container volume.</a:t>
            </a:r>
          </a:p>
          <a:p>
            <a:pPr rtl="0"/>
            <a:endParaRPr lang="en-IN" sz="1400"/>
          </a:p>
          <a:p>
            <a:pPr rtl="0"/>
            <a:r>
              <a:rPr lang="en-IN" sz="1400" b="1"/>
              <a:t>Usage Based </a:t>
            </a:r>
            <a:r>
              <a:rPr lang="en-IN" sz="1400" b="1" err="1"/>
              <a:t>Pricin</a:t>
            </a:r>
            <a:r>
              <a:rPr lang="en-IN" sz="1400" b="1"/>
              <a:t>g:</a:t>
            </a:r>
            <a:r>
              <a:rPr lang="en-IN" sz="1400"/>
              <a:t> For ports with wildly varying activity, a usage based service can be provided based on API usage, or container volume in that period and not a fixed annual licence fee.</a:t>
            </a:r>
          </a:p>
          <a:p>
            <a:pPr rtl="0"/>
            <a:endParaRPr lang="en-IN" sz="1400"/>
          </a:p>
          <a:p>
            <a:pPr rtl="0"/>
            <a:r>
              <a:rPr lang="en-US" sz="1400" b="1"/>
              <a:t>Enterprise model:</a:t>
            </a:r>
            <a:r>
              <a:rPr lang="en-US" sz="1400"/>
              <a:t> Some more specific customers can get separate fine tuned models for their use cases while maintaining the generic architecture. Like a port with narcotic delivery activity might </a:t>
            </a:r>
            <a:r>
              <a:rPr lang="en-US" sz="1400" err="1"/>
              <a:t>utiilise</a:t>
            </a:r>
            <a:r>
              <a:rPr lang="en-US" sz="1400"/>
              <a:t> risk score to conduct better investigations. So the model can have a higher weight to certain factors.</a:t>
            </a:r>
          </a:p>
          <a:p>
            <a:pPr rtl="0"/>
            <a:endParaRPr lang="en-IN" sz="1400"/>
          </a:p>
          <a:p>
            <a:pPr rtl="0"/>
            <a:endParaRPr lang="en-IN" sz="1400"/>
          </a:p>
          <a:p>
            <a:pPr rtl="0"/>
            <a:endParaRPr lang="en-IN" sz="1400">
              <a:effectLst/>
            </a:endParaRPr>
          </a:p>
        </p:txBody>
      </p:sp>
      <p:pic>
        <p:nvPicPr>
          <p:cNvPr id="24" name="Picture 8">
            <a:extLst>
              <a:ext uri="{FF2B5EF4-FFF2-40B4-BE49-F238E27FC236}">
                <a16:creationId xmlns:a16="http://schemas.microsoft.com/office/drawing/2014/main" id="{2FAFE8E0-2809-5891-5C7A-C16B5D50C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2922" y="1350023"/>
            <a:ext cx="2857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4908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8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/>
              <a:t>INNOVATIVE</a:t>
            </a:r>
            <a:r>
              <a:rPr spc="-145"/>
              <a:t> </a:t>
            </a:r>
            <a:r>
              <a:rPr spc="-10"/>
              <a:t>ASPECTS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</a:t>
            </a:fld>
            <a:endParaRPr spc="-25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6151228-7F2C-9558-C307-33095021B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0161" y="381000"/>
            <a:ext cx="19907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361E5573-18B9-43AE-EEA1-9D06125A2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02" y="990600"/>
            <a:ext cx="3429000" cy="282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DE7295-479B-3E9E-27FE-6D7728391F8A}"/>
              </a:ext>
            </a:extLst>
          </p:cNvPr>
          <p:cNvSpPr txBox="1"/>
          <p:nvPr/>
        </p:nvSpPr>
        <p:spPr>
          <a:xfrm>
            <a:off x="366296" y="11960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b="1" i="0" u="none" strike="noStrike">
                <a:solidFill>
                  <a:srgbClr val="002B49"/>
                </a:solidFill>
                <a:effectLst/>
                <a:latin typeface="Poppins" panose="00000500000000000000" pitchFamily="2" charset="0"/>
              </a:rPr>
              <a:t>Beyond Dashboards</a:t>
            </a:r>
            <a:endParaRPr lang="en-IN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8DE91-C41A-9D6E-B437-10305DFB4204}"/>
              </a:ext>
            </a:extLst>
          </p:cNvPr>
          <p:cNvSpPr txBox="1"/>
          <p:nvPr/>
        </p:nvSpPr>
        <p:spPr>
          <a:xfrm>
            <a:off x="385053" y="1589118"/>
            <a:ext cx="3429000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US" sz="1800" b="0" i="0" u="none" strike="noStrike">
                <a:solidFill>
                  <a:srgbClr val="1E293B"/>
                </a:solidFill>
                <a:effectLst/>
                <a:latin typeface="Inter"/>
              </a:rPr>
              <a:t>Most logistics software requires 10 menus; our innovation </a:t>
            </a:r>
            <a:r>
              <a:rPr lang="en-US">
                <a:solidFill>
                  <a:srgbClr val="1E293B"/>
                </a:solidFill>
                <a:latin typeface="Inter"/>
              </a:rPr>
              <a:t>provides one stop solution for port metric analysis</a:t>
            </a:r>
            <a:r>
              <a:rPr lang="en-US" sz="1800" b="0" i="0" u="none" strike="noStrike">
                <a:solidFill>
                  <a:srgbClr val="1E293B"/>
                </a:solidFill>
                <a:effectLst/>
                <a:latin typeface="Inter"/>
              </a:rPr>
              <a:t>. Workers speak naturally to the system; the system uses CV to see the real world with zero learning curve.</a:t>
            </a:r>
            <a:endParaRPr lang="en-US">
              <a:effectLst/>
            </a:endParaRPr>
          </a:p>
        </p:txBody>
      </p:sp>
      <p:pic>
        <p:nvPicPr>
          <p:cNvPr id="9224" name="Picture 8">
            <a:extLst>
              <a:ext uri="{FF2B5EF4-FFF2-40B4-BE49-F238E27FC236}">
                <a16:creationId xmlns:a16="http://schemas.microsoft.com/office/drawing/2014/main" id="{8F98A3FE-28A9-C1D0-2879-42BFD585F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527" y="990600"/>
            <a:ext cx="3429000" cy="282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1A295D-15D3-CA5B-80D6-199016F9A7FE}"/>
              </a:ext>
            </a:extLst>
          </p:cNvPr>
          <p:cNvSpPr txBox="1"/>
          <p:nvPr/>
        </p:nvSpPr>
        <p:spPr>
          <a:xfrm>
            <a:off x="4242527" y="1214516"/>
            <a:ext cx="6096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IN" b="1">
                <a:solidFill>
                  <a:srgbClr val="002B49"/>
                </a:solidFill>
                <a:latin typeface="Poppins"/>
                <a:cs typeface="Poppins"/>
              </a:rPr>
              <a:t>Actively Reducing Costs</a:t>
            </a:r>
            <a:endParaRPr lang="en-IN" b="1">
              <a:solidFill>
                <a:srgbClr val="002B49"/>
              </a:solidFill>
              <a:effectLst/>
              <a:latin typeface="Poppins"/>
              <a:cs typeface="Poppi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277DED-E9E7-3A2A-9A24-77390EA73ADC}"/>
              </a:ext>
            </a:extLst>
          </p:cNvPr>
          <p:cNvSpPr txBox="1"/>
          <p:nvPr/>
        </p:nvSpPr>
        <p:spPr>
          <a:xfrm>
            <a:off x="4312769" y="1597770"/>
            <a:ext cx="3429000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US">
                <a:solidFill>
                  <a:srgbClr val="1E293B"/>
                </a:solidFill>
                <a:latin typeface="Inter"/>
              </a:rPr>
              <a:t>Vision Gate actively works to reduce small costs around port solutions </a:t>
            </a:r>
            <a:r>
              <a:rPr lang="en-US" err="1">
                <a:solidFill>
                  <a:srgbClr val="1E293B"/>
                </a:solidFill>
                <a:latin typeface="Inter"/>
              </a:rPr>
              <a:t>optimising</a:t>
            </a:r>
            <a:r>
              <a:rPr lang="en-US">
                <a:solidFill>
                  <a:srgbClr val="1E293B"/>
                </a:solidFill>
                <a:latin typeface="Inter"/>
              </a:rPr>
              <a:t> management lifecycle. Reducing inspection cost is a huge step towards moving to new naval logistic practices.</a:t>
            </a:r>
          </a:p>
        </p:txBody>
      </p:sp>
      <p:pic>
        <p:nvPicPr>
          <p:cNvPr id="9228" name="Picture 12">
            <a:extLst>
              <a:ext uri="{FF2B5EF4-FFF2-40B4-BE49-F238E27FC236}">
                <a16:creationId xmlns:a16="http://schemas.microsoft.com/office/drawing/2014/main" id="{3E5E5221-63EA-B9DD-2F86-1D62D822F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952" y="990600"/>
            <a:ext cx="3429000" cy="282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7D5789-2C55-45C2-D8E2-B34C697D5127}"/>
              </a:ext>
            </a:extLst>
          </p:cNvPr>
          <p:cNvSpPr txBox="1"/>
          <p:nvPr/>
        </p:nvSpPr>
        <p:spPr>
          <a:xfrm>
            <a:off x="8191592" y="12005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800" b="1" i="0" u="none" strike="noStrike">
                <a:solidFill>
                  <a:srgbClr val="002B49"/>
                </a:solidFill>
                <a:effectLst/>
                <a:latin typeface="Poppins" panose="00000500000000000000" pitchFamily="2" charset="0"/>
              </a:rPr>
              <a:t>Connecting Silos</a:t>
            </a:r>
            <a:endParaRPr lang="en-IN">
              <a:effectLst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8CB55C-5739-95CC-F4EF-9D9214B50D33}"/>
              </a:ext>
            </a:extLst>
          </p:cNvPr>
          <p:cNvSpPr txBox="1"/>
          <p:nvPr/>
        </p:nvSpPr>
        <p:spPr>
          <a:xfrm>
            <a:off x="8189919" y="1565428"/>
            <a:ext cx="3351066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US" sz="1800" b="0" i="0" u="none" strike="noStrike">
                <a:solidFill>
                  <a:srgbClr val="1E293B"/>
                </a:solidFill>
                <a:effectLst/>
                <a:latin typeface="Inter"/>
              </a:rPr>
              <a:t>Seamlessly connects the physical truck driver's reality with the </a:t>
            </a:r>
            <a:r>
              <a:rPr lang="en-US">
                <a:solidFill>
                  <a:srgbClr val="1E293B"/>
                </a:solidFill>
                <a:latin typeface="Inter"/>
              </a:rPr>
              <a:t>congestion management module. This makes sure a huge bottleneck for both last mile delivery delay and vehicle operational cost is handled.</a:t>
            </a:r>
            <a:endParaRPr lang="en-US">
              <a:solidFill>
                <a:srgbClr val="1E293B"/>
              </a:solidFill>
              <a:effectLst/>
              <a:latin typeface="Inter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E3AE0691-2A68-E70C-1127-C205D3D2B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294" y="4036190"/>
            <a:ext cx="3429000" cy="282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1CDD51-17F1-450A-4F9A-9645C974251E}"/>
              </a:ext>
            </a:extLst>
          </p:cNvPr>
          <p:cNvSpPr txBox="1"/>
          <p:nvPr/>
        </p:nvSpPr>
        <p:spPr>
          <a:xfrm>
            <a:off x="1778294" y="41817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>
                <a:latin typeface="Poppins" panose="00000500000000000000" pitchFamily="2" charset="0"/>
                <a:cs typeface="Poppins" panose="00000500000000000000" pitchFamily="2" charset="0"/>
              </a:rPr>
              <a:t>Cross-Discipline Synthesis</a:t>
            </a:r>
            <a:endParaRPr lang="en-IN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DD18EB-D74C-01F9-D9A2-789E65885106}"/>
              </a:ext>
            </a:extLst>
          </p:cNvPr>
          <p:cNvSpPr txBox="1"/>
          <p:nvPr/>
        </p:nvSpPr>
        <p:spPr>
          <a:xfrm>
            <a:off x="1785664" y="4552048"/>
            <a:ext cx="3429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>
                <a:latin typeface="Inter"/>
              </a:rPr>
              <a:t>We combined Software Engineering (scalable APIs), Domain Knowledge (ISO 6346 standards, gate workflows), and Business Thinking (CAPEX reduction, ESG compliance) into one platform.</a:t>
            </a:r>
            <a:endParaRPr lang="en-US">
              <a:effectLst/>
              <a:latin typeface="Inter"/>
            </a:endParaRPr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0AE9F4A0-809D-C4B4-68AC-87F04C901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9527" y="4017770"/>
            <a:ext cx="3429000" cy="282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03E5812-8431-BF29-B0B4-7ECD5762DEAF}"/>
              </a:ext>
            </a:extLst>
          </p:cNvPr>
          <p:cNvSpPr txBox="1"/>
          <p:nvPr/>
        </p:nvSpPr>
        <p:spPr>
          <a:xfrm>
            <a:off x="6972160" y="4218738"/>
            <a:ext cx="3366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>
                <a:latin typeface="Poppins" panose="00000500000000000000" pitchFamily="2" charset="0"/>
                <a:cs typeface="Poppins" panose="00000500000000000000" pitchFamily="2" charset="0"/>
              </a:rPr>
              <a:t>Technology-Agnostic</a:t>
            </a:r>
            <a:endParaRPr lang="en-IN"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9C50EC-6713-E0DC-565A-164646EEE003}"/>
              </a:ext>
            </a:extLst>
          </p:cNvPr>
          <p:cNvSpPr txBox="1"/>
          <p:nvPr/>
        </p:nvSpPr>
        <p:spPr>
          <a:xfrm>
            <a:off x="6940843" y="4546223"/>
            <a:ext cx="3429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>
                <a:latin typeface="Inter"/>
              </a:rPr>
              <a:t>We do not require DP World to buy proprietary smart-cameras. Our solution layers over </a:t>
            </a:r>
            <a:r>
              <a:rPr lang="en-US" i="1">
                <a:effectLst/>
                <a:latin typeface="Inter"/>
              </a:rPr>
              <a:t>any existing RTSP camera feed</a:t>
            </a:r>
            <a:r>
              <a:rPr lang="en-US">
                <a:latin typeface="Inter"/>
              </a:rPr>
              <a:t>, dramatically lowering the barrier to entry and proving we solve the problem, not just push a technology.</a:t>
            </a:r>
            <a:endParaRPr lang="en-US">
              <a:effectLst/>
              <a:latin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10137" y="381000"/>
            <a:ext cx="2371725" cy="614507"/>
          </a:xfrm>
          <a:prstGeom prst="rect">
            <a:avLst/>
          </a:prstGeom>
        </p:spPr>
        <p:txBody>
          <a:bodyPr vert="horz" wrap="square" lIns="0" tIns="120884" rIns="0" bIns="0" rtlCol="0">
            <a:spAutoFit/>
          </a:bodyPr>
          <a:lstStyle/>
          <a:p>
            <a:pPr rtl="0"/>
            <a:r>
              <a:rPr lang="en-IN" b="1"/>
              <a:t>Thank You!</a:t>
            </a:r>
            <a:endParaRPr lang="en-IN">
              <a:effectLst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</a:t>
            </a:fld>
            <a:endParaRPr spc="-25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34F379-06B4-5D76-17AC-EDC5CAE6B3C3}"/>
              </a:ext>
            </a:extLst>
          </p:cNvPr>
          <p:cNvSpPr txBox="1"/>
          <p:nvPr/>
        </p:nvSpPr>
        <p:spPr>
          <a:xfrm>
            <a:off x="152400" y="12655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800" b="1" i="0" u="none" strike="noStrike">
                <a:solidFill>
                  <a:srgbClr val="002B49"/>
                </a:solidFill>
                <a:effectLst/>
                <a:latin typeface="Poppins" panose="00000500000000000000" pitchFamily="2" charset="0"/>
              </a:rPr>
              <a:t>Future Roadmap</a:t>
            </a:r>
            <a:endParaRPr lang="en-US">
              <a:effectLst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4DD0E55-FA07-070F-EAC1-4C34AB7F8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46" y="1798530"/>
            <a:ext cx="5447518" cy="426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720C0B-04C0-D045-7C19-CED531F35AD0}"/>
              </a:ext>
            </a:extLst>
          </p:cNvPr>
          <p:cNvSpPr txBox="1"/>
          <p:nvPr/>
        </p:nvSpPr>
        <p:spPr>
          <a:xfrm>
            <a:off x="237789" y="1799702"/>
            <a:ext cx="6096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IN" sz="1800" b="1" i="0" u="none" strike="noStrike">
                <a:solidFill>
                  <a:srgbClr val="00B2A9"/>
                </a:solidFill>
                <a:effectLst/>
                <a:latin typeface="Poppins"/>
                <a:cs typeface="Poppins"/>
              </a:rPr>
              <a:t>PHASE 1: </a:t>
            </a:r>
            <a:r>
              <a:rPr lang="en-IN" b="1">
                <a:solidFill>
                  <a:srgbClr val="00B2A9"/>
                </a:solidFill>
                <a:latin typeface="Poppins"/>
                <a:cs typeface="Poppins"/>
              </a:rPr>
              <a:t>ADDITIONAL FEATURES</a:t>
            </a:r>
            <a:endParaRPr lang="en-IN">
              <a:effectLst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E70D5C-7AEE-2953-FFBB-39623A6EEABF}"/>
              </a:ext>
            </a:extLst>
          </p:cNvPr>
          <p:cNvSpPr txBox="1"/>
          <p:nvPr/>
        </p:nvSpPr>
        <p:spPr>
          <a:xfrm>
            <a:off x="217227" y="2155124"/>
            <a:ext cx="5286375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AutoNum type="arabicPeriod"/>
            </a:pPr>
            <a:r>
              <a:rPr lang="en-US">
                <a:solidFill>
                  <a:srgbClr val="1E293B"/>
                </a:solidFill>
              </a:rPr>
              <a:t>Build a dedicated ship database for a flexible, scalable architecture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1E293B"/>
                </a:solidFill>
              </a:rPr>
              <a:t>Integrate </a:t>
            </a:r>
            <a:r>
              <a:rPr lang="en-US" err="1">
                <a:solidFill>
                  <a:srgbClr val="1E293B"/>
                </a:solidFill>
              </a:rPr>
              <a:t>MarineTraffic</a:t>
            </a:r>
            <a:r>
              <a:rPr lang="en-US">
                <a:solidFill>
                  <a:srgbClr val="1E293B"/>
                </a:solidFill>
              </a:rPr>
              <a:t> APIs for trade route analysis and cargo-based recommendations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1E293B"/>
                </a:solidFill>
              </a:rPr>
              <a:t>Use optimization models to allocate ship space based on risk and availability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1E293B"/>
                </a:solidFill>
              </a:rPr>
              <a:t>Enable encrypted continuous video streaming to prevent tampering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1E293B"/>
                </a:solidFill>
              </a:rPr>
              <a:t>Perform container inspection at entry and exit to detect port-related damage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1E293B"/>
                </a:solidFill>
              </a:rPr>
              <a:t>Deploy ML models to assign risk scores, triggering deeper inspection for high-risk containers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1E293B"/>
                </a:solidFill>
              </a:rPr>
              <a:t>Extend to General Cargo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93F64118-523C-BAF0-2E8F-9FF55CA27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643" y="1789695"/>
            <a:ext cx="5458891" cy="427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7302279-B995-BA41-4A27-27CBF8D27238}"/>
              </a:ext>
            </a:extLst>
          </p:cNvPr>
          <p:cNvSpPr txBox="1"/>
          <p:nvPr/>
        </p:nvSpPr>
        <p:spPr>
          <a:xfrm>
            <a:off x="6608207" y="1806915"/>
            <a:ext cx="7620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/>
            <a:r>
              <a:rPr lang="en-IN" sz="1800" b="1" i="0" u="none" strike="noStrike">
                <a:solidFill>
                  <a:srgbClr val="00B2A9"/>
                </a:solidFill>
                <a:effectLst/>
                <a:latin typeface="Poppins"/>
                <a:cs typeface="Poppins"/>
              </a:rPr>
              <a:t>PHASE 2: </a:t>
            </a:r>
            <a:r>
              <a:rPr lang="en-IN" b="1">
                <a:solidFill>
                  <a:srgbClr val="00B2A9"/>
                </a:solidFill>
                <a:latin typeface="Poppins"/>
                <a:cs typeface="Poppins"/>
              </a:rPr>
              <a:t>SCALABILITY PRACTICES</a:t>
            </a:r>
            <a:endParaRPr lang="en-IN"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07536A-BE06-5D9C-8F86-AB0678236ACB}"/>
              </a:ext>
            </a:extLst>
          </p:cNvPr>
          <p:cNvSpPr txBox="1"/>
          <p:nvPr/>
        </p:nvSpPr>
        <p:spPr>
          <a:xfrm>
            <a:off x="6571921" y="2178583"/>
            <a:ext cx="5248275" cy="3693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l">
              <a:buAutoNum type="arabicPeriod"/>
            </a:pPr>
            <a:r>
              <a:rPr lang="en-US">
                <a:solidFill>
                  <a:srgbClr val="1E293B"/>
                </a:solidFill>
              </a:rPr>
              <a:t>Migrate from SQLite to PostgreSQL for write-heavy workloads and horizontal scaling</a:t>
            </a:r>
          </a:p>
          <a:p>
            <a:pPr marL="342900" indent="-342900" algn="l">
              <a:buAutoNum type="arabicPeriod"/>
            </a:pPr>
            <a:r>
              <a:rPr lang="en-US">
                <a:solidFill>
                  <a:srgbClr val="1E293B"/>
                </a:solidFill>
              </a:rPr>
              <a:t>Implement master–slave architecture for high availability</a:t>
            </a:r>
          </a:p>
          <a:p>
            <a:pPr marL="342900" indent="-342900" algn="l">
              <a:buAutoNum type="arabicPeriod"/>
            </a:pPr>
            <a:r>
              <a:rPr lang="en-US">
                <a:solidFill>
                  <a:srgbClr val="1E293B"/>
                </a:solidFill>
              </a:rPr>
              <a:t>Use Kafka to decouple API and database, reducing peak-time request drops</a:t>
            </a:r>
          </a:p>
          <a:p>
            <a:pPr marL="342900" indent="-342900" algn="l">
              <a:buAutoNum type="arabicPeriod"/>
            </a:pPr>
            <a:r>
              <a:rPr lang="en-US">
                <a:solidFill>
                  <a:srgbClr val="1E293B"/>
                </a:solidFill>
              </a:rPr>
              <a:t>Cache LLM responses with Redis</a:t>
            </a:r>
          </a:p>
          <a:p>
            <a:pPr marL="342900" indent="-342900" algn="l">
              <a:buAutoNum type="arabicPeriod"/>
            </a:pPr>
            <a:r>
              <a:rPr lang="en-US">
                <a:solidFill>
                  <a:srgbClr val="1E293B"/>
                </a:solidFill>
              </a:rPr>
              <a:t>Add edge layer for offline port operations with later sync to central DB</a:t>
            </a:r>
          </a:p>
          <a:p>
            <a:pPr marL="342900" indent="-342900" algn="l">
              <a:buAutoNum type="arabicPeriod"/>
            </a:pPr>
            <a:r>
              <a:rPr lang="en-US">
                <a:solidFill>
                  <a:srgbClr val="1E293B"/>
                </a:solidFill>
              </a:rPr>
              <a:t>Prioritize AP mode at edge nodes, AC at the central server</a:t>
            </a:r>
          </a:p>
          <a:p>
            <a:pPr marL="342900" indent="-342900" algn="l">
              <a:buAutoNum type="arabicPeriod"/>
            </a:pPr>
            <a:r>
              <a:rPr lang="en-US">
                <a:solidFill>
                  <a:srgbClr val="1E293B"/>
                </a:solidFill>
              </a:rPr>
              <a:t>Use Amazon S3 as a vector database for document storage and LLM-based retrieval</a:t>
            </a: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CEDBF93C-3CBB-9371-EFF1-F9928FEC3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9311" y="149320"/>
            <a:ext cx="117157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PROJECT TITLE AND TEAM INTRODUCTION</vt:lpstr>
      <vt:lpstr>PROBLEM STATEMENT</vt:lpstr>
      <vt:lpstr>PROPOSED SOLUTION/SOLUTION OVERVIEW</vt:lpstr>
      <vt:lpstr>PROPOSED SOLUTION/SOLUTION OVERVIEW</vt:lpstr>
      <vt:lpstr>TECHNOLOGY STACK PROPOSED</vt:lpstr>
      <vt:lpstr>BASIC PROTOTYPE</vt:lpstr>
      <vt:lpstr>PROTOTYPE SNIPPETS &amp; VIDEO DEMO</vt:lpstr>
      <vt:lpstr>MARKET ANALYSIS &amp; ESG ALIGNMENT</vt:lpstr>
      <vt:lpstr>BUSINESS CASE</vt:lpstr>
      <vt:lpstr>INNOVATIVE ASPECTS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Submission Presentation Framework Template.pptx</dc:title>
  <cp:revision>2</cp:revision>
  <dcterms:created xsi:type="dcterms:W3CDTF">2026-03-27T09:45:01Z</dcterms:created>
  <dcterms:modified xsi:type="dcterms:W3CDTF">2026-04-04T04:07:50Z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2026-03-27T00:00:00Z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2026-03-27T00:00:00Z</vt:filetime>
  </property>
</Properties>
</file>